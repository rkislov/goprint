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5c6eb6c99d4ae4" /><Relationship Type="http://schemas.openxmlformats.org/officeDocument/2006/relationships/extended-properties" Target="/docProps/app.xml" Id="Rd159dc48e5034e1f" /><Relationship Type="http://schemas.openxmlformats.org/officeDocument/2006/relationships/officeDocument" Target="/ppt/presentation.xml" Id="R430539884e5348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5d31df7204c5f"/>
  </p:sldMasterIdLst>
  <p:notesMasterIdLst>
    <p:notesMasterId xmlns:r="http://schemas.openxmlformats.org/officeDocument/2006/relationships" r:id="Ra659170fae4043b0"/>
  </p:notesMasterIdLst>
  <p:sldIdLst>
    <p:sldId xmlns:r="http://schemas.openxmlformats.org/officeDocument/2006/relationships" id="256" r:id="R7d5c6f7565714714"/>
    <p:sldId xmlns:r="http://schemas.openxmlformats.org/officeDocument/2006/relationships" id="257" r:id="Rb0ae608df186424c"/>
    <p:sldId xmlns:r="http://schemas.openxmlformats.org/officeDocument/2006/relationships" id="258" r:id="R64a7273e444d4535"/>
    <p:sldId xmlns:r="http://schemas.openxmlformats.org/officeDocument/2006/relationships" id="259" r:id="R3f6bca097272437b"/>
    <p:sldId xmlns:r="http://schemas.openxmlformats.org/officeDocument/2006/relationships" id="260" r:id="R7131097800d541ec"/>
    <p:sldId xmlns:r="http://schemas.openxmlformats.org/officeDocument/2006/relationships" id="261" r:id="R80854d0778de45ab"/>
    <p:sldId xmlns:r="http://schemas.openxmlformats.org/officeDocument/2006/relationships" id="262" r:id="Rdbd59c096e2d46f5"/>
    <p:sldId xmlns:r="http://schemas.openxmlformats.org/officeDocument/2006/relationships" id="263" r:id="R3659edc5e91e4400"/>
    <p:sldId xmlns:r="http://schemas.openxmlformats.org/officeDocument/2006/relationships" id="264" r:id="Rea5fe021ff954749"/>
    <p:sldId xmlns:r="http://schemas.openxmlformats.org/officeDocument/2006/relationships" id="265" r:id="R90c3797438f448a2"/>
    <p:sldId xmlns:r="http://schemas.openxmlformats.org/officeDocument/2006/relationships" id="266" r:id="R91f791ad9d754bf9"/>
    <p:sldId xmlns:r="http://schemas.openxmlformats.org/officeDocument/2006/relationships" id="267" r:id="R48e3907396214881"/>
    <p:sldId xmlns:r="http://schemas.openxmlformats.org/officeDocument/2006/relationships" id="268" r:id="R9e8bbf1b411d4979"/>
    <p:sldId xmlns:r="http://schemas.openxmlformats.org/officeDocument/2006/relationships" id="269" r:id="Rdb2e14c786ef48fd"/>
    <p:sldId xmlns:r="http://schemas.openxmlformats.org/officeDocument/2006/relationships" id="270" r:id="R3709957d86844525"/>
    <p:sldId xmlns:r="http://schemas.openxmlformats.org/officeDocument/2006/relationships" id="271" r:id="R7e316890b2eb48db"/>
    <p:sldId xmlns:r="http://schemas.openxmlformats.org/officeDocument/2006/relationships" id="272" r:id="Rf0b1cb99c6b3482a"/>
    <p:sldId xmlns:r="http://schemas.openxmlformats.org/officeDocument/2006/relationships" id="273" r:id="R47f5729c48c046dd"/>
    <p:sldId xmlns:r="http://schemas.openxmlformats.org/officeDocument/2006/relationships" id="274" r:id="R45895f888ed44803"/>
    <p:sldId xmlns:r="http://schemas.openxmlformats.org/officeDocument/2006/relationships" id="275" r:id="R51350bf622384a32"/>
    <p:sldId xmlns:r="http://schemas.openxmlformats.org/officeDocument/2006/relationships" id="276" r:id="R46c8f355e7184ef8"/>
    <p:sldId xmlns:r="http://schemas.openxmlformats.org/officeDocument/2006/relationships" id="277" r:id="R029b86177ea94b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1b1b5f78b46da" /><Relationship Type="http://schemas.openxmlformats.org/officeDocument/2006/relationships/slideMaster" Target="/ppt/slideMasters/slideMaster1.xml" Id="R5f95d31df7204c5f" /><Relationship Type="http://schemas.openxmlformats.org/officeDocument/2006/relationships/notesMaster" Target="/ppt/notesMasters/notesMaster1.xml" Id="Ra659170fae4043b0" /><Relationship Type="http://schemas.openxmlformats.org/officeDocument/2006/relationships/presProps" Target="/ppt/presProps.xml" Id="Rd09ac5ba29ed4356" /><Relationship Type="http://schemas.openxmlformats.org/officeDocument/2006/relationships/tableStyles" Target="/ppt/tableStyles.xml" Id="R6a77b7ba8ae14b3d" /><Relationship Type="http://schemas.openxmlformats.org/officeDocument/2006/relationships/slide" Target="/ppt/slides/slide1.xml" Id="R7d5c6f7565714714" /><Relationship Type="http://schemas.openxmlformats.org/officeDocument/2006/relationships/slide" Target="/ppt/slides/slide2.xml" Id="Rb0ae608df186424c" /><Relationship Type="http://schemas.openxmlformats.org/officeDocument/2006/relationships/slide" Target="/ppt/slides/slide3.xml" Id="R64a7273e444d4535" /><Relationship Type="http://schemas.openxmlformats.org/officeDocument/2006/relationships/slide" Target="/ppt/slides/slide4.xml" Id="R3f6bca097272437b" /><Relationship Type="http://schemas.openxmlformats.org/officeDocument/2006/relationships/slide" Target="/ppt/slides/slide5.xml" Id="R7131097800d541ec" /><Relationship Type="http://schemas.openxmlformats.org/officeDocument/2006/relationships/slide" Target="/ppt/slides/slide6.xml" Id="R80854d0778de45ab" /><Relationship Type="http://schemas.openxmlformats.org/officeDocument/2006/relationships/slide" Target="/ppt/slides/slide7.xml" Id="Rdbd59c096e2d46f5" /><Relationship Type="http://schemas.openxmlformats.org/officeDocument/2006/relationships/slide" Target="/ppt/slides/slide8.xml" Id="R3659edc5e91e4400" /><Relationship Type="http://schemas.openxmlformats.org/officeDocument/2006/relationships/slide" Target="/ppt/slides/slide9.xml" Id="Rea5fe021ff954749" /><Relationship Type="http://schemas.openxmlformats.org/officeDocument/2006/relationships/slide" Target="/ppt/slides/slide10.xml" Id="R90c3797438f448a2" /><Relationship Type="http://schemas.openxmlformats.org/officeDocument/2006/relationships/slide" Target="/ppt/slides/slide11.xml" Id="R91f791ad9d754bf9" /><Relationship Type="http://schemas.openxmlformats.org/officeDocument/2006/relationships/slide" Target="/ppt/slides/slide12.xml" Id="R48e3907396214881" /><Relationship Type="http://schemas.openxmlformats.org/officeDocument/2006/relationships/slide" Target="/ppt/slides/slide13.xml" Id="R9e8bbf1b411d4979" /><Relationship Type="http://schemas.openxmlformats.org/officeDocument/2006/relationships/slide" Target="/ppt/slides/slide14.xml" Id="Rdb2e14c786ef48fd" /><Relationship Type="http://schemas.openxmlformats.org/officeDocument/2006/relationships/slide" Target="/ppt/slides/slide15.xml" Id="R3709957d86844525" /><Relationship Type="http://schemas.openxmlformats.org/officeDocument/2006/relationships/slide" Target="/ppt/slides/slide16.xml" Id="R7e316890b2eb48db" /><Relationship Type="http://schemas.openxmlformats.org/officeDocument/2006/relationships/slide" Target="/ppt/slides/slide17.xml" Id="Rf0b1cb99c6b3482a" /><Relationship Type="http://schemas.openxmlformats.org/officeDocument/2006/relationships/slide" Target="/ppt/slides/slide18.xml" Id="R47f5729c48c046dd" /><Relationship Type="http://schemas.openxmlformats.org/officeDocument/2006/relationships/slide" Target="/ppt/slides/slide19.xml" Id="R45895f888ed44803" /><Relationship Type="http://schemas.openxmlformats.org/officeDocument/2006/relationships/slide" Target="/ppt/slides/slide20.xml" Id="R51350bf622384a32" /><Relationship Type="http://schemas.openxmlformats.org/officeDocument/2006/relationships/slide" Target="/ppt/slides/slide21.xml" Id="R46c8f355e7184ef8" /><Relationship Type="http://schemas.openxmlformats.org/officeDocument/2006/relationships/slide" Target="/ppt/slides/slide22.xml" Id="R029b86177ea94b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16641bb532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12870a3384687" /><Relationship Type="http://schemas.openxmlformats.org/officeDocument/2006/relationships/notesMaster" Target="/ppt/notesMasters/notesMaster1.xml" Id="Rc0faa2a6d99749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3289c646444858" /><Relationship Type="http://schemas.openxmlformats.org/officeDocument/2006/relationships/notesMaster" Target="/ppt/notesMasters/notesMaster1.xml" Id="Rae277425386c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80ad588a24eeb" /><Relationship Type="http://schemas.openxmlformats.org/officeDocument/2006/relationships/notesMaster" Target="/ppt/notesMasters/notesMaster1.xml" Id="R7537fcc78ff340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897cd22784769" /><Relationship Type="http://schemas.openxmlformats.org/officeDocument/2006/relationships/notesMaster" Target="/ppt/notesMasters/notesMaster1.xml" Id="R170a297e2d944b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f6e781c8c149fd" /><Relationship Type="http://schemas.openxmlformats.org/officeDocument/2006/relationships/notesMaster" Target="/ppt/notesMasters/notesMaster1.xml" Id="Rbb71c947ea3242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d99c630eba4484" /><Relationship Type="http://schemas.openxmlformats.org/officeDocument/2006/relationships/notesMaster" Target="/ppt/notesMasters/notesMaster1.xml" Id="R6bc76ca2a0f344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459a3a27a841e4" /><Relationship Type="http://schemas.openxmlformats.org/officeDocument/2006/relationships/notesMaster" Target="/ppt/notesMasters/notesMaster1.xml" Id="R74da68e2a2c048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38a47081df41aa" /><Relationship Type="http://schemas.openxmlformats.org/officeDocument/2006/relationships/notesMaster" Target="/ppt/notesMasters/notesMaster1.xml" Id="R0bd6964a4e6544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eb16879cb45d8" /><Relationship Type="http://schemas.openxmlformats.org/officeDocument/2006/relationships/notesMaster" Target="/ppt/notesMasters/notesMaster1.xml" Id="R7a0cebfb6fb24b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bbc5cfee6c4940" /><Relationship Type="http://schemas.openxmlformats.org/officeDocument/2006/relationships/notesMaster" Target="/ppt/notesMasters/notesMaster1.xml" Id="R666e5dc860d648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5b2d4f1b04a31" /><Relationship Type="http://schemas.openxmlformats.org/officeDocument/2006/relationships/notesMaster" Target="/ppt/notesMasters/notesMaster1.xml" Id="R6d78b1c7d6c74a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3bd6b657f842ab" /><Relationship Type="http://schemas.openxmlformats.org/officeDocument/2006/relationships/notesMaster" Target="/ppt/notesMasters/notesMaster1.xml" Id="Rf108009fe1cc4a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c65443cda94b6a" /><Relationship Type="http://schemas.openxmlformats.org/officeDocument/2006/relationships/notesMaster" Target="/ppt/notesMasters/notesMaster1.xml" Id="R9fed67ddc4514d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f61f482b5543f3" /><Relationship Type="http://schemas.openxmlformats.org/officeDocument/2006/relationships/notesMaster" Target="/ppt/notesMasters/notesMaster1.xml" Id="R602de535718646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d715a1c69142fe" /><Relationship Type="http://schemas.openxmlformats.org/officeDocument/2006/relationships/notesMaster" Target="/ppt/notesMasters/notesMaster1.xml" Id="Rd27140bde98149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4d0d53264e4cd8" /><Relationship Type="http://schemas.openxmlformats.org/officeDocument/2006/relationships/notesMaster" Target="/ppt/notesMasters/notesMaster1.xml" Id="Rc89fee16b1b14a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e80f10b03842c9" /><Relationship Type="http://schemas.openxmlformats.org/officeDocument/2006/relationships/notesMaster" Target="/ppt/notesMasters/notesMaster1.xml" Id="R8df35eb010e045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e7082f8d3c4d70" /><Relationship Type="http://schemas.openxmlformats.org/officeDocument/2006/relationships/notesMaster" Target="/ppt/notesMasters/notesMaster1.xml" Id="Re5a10870a8114d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45ccbb65b54d89" /><Relationship Type="http://schemas.openxmlformats.org/officeDocument/2006/relationships/notesMaster" Target="/ppt/notesMasters/notesMaster1.xml" Id="R864d8134cccb4a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7627a9c0b64018" /><Relationship Type="http://schemas.openxmlformats.org/officeDocument/2006/relationships/notesMaster" Target="/ppt/notesMasters/notesMaster1.xml" Id="R09813c06e84a42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dcaedc3fd04030" /><Relationship Type="http://schemas.openxmlformats.org/officeDocument/2006/relationships/notesMaster" Target="/ppt/notesMasters/notesMaster1.xml" Id="R6bee5053e8a446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28f0a5bad64a11" /><Relationship Type="http://schemas.openxmlformats.org/officeDocument/2006/relationships/notesMaster" Target="/ppt/notesMasters/notesMaster1.xml" Id="R1c52a7264ae4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GoPrint — сервер печати и приёма сканов на Go. Реализованные возможности beta.2 и условия пилота. Источник: https://github.com/rkislov/goPrint/tree/main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GoPrint развивается как сервер печати на Go. Рекомендуется пилотное внедрение. Наличие PPD и поддержка протокола не гарантируют совместимость со всеми физическими моделями. Нет результатов нагрузочного пилота, поэтому количественная экономия и производительность не заявляются.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Доступ к принтерам по умолчанию закрыт для обычных пользователей. Администратор назначает UPN пользователей или DN групп. Пользователь видит свои задания и сканы; администратор имеет доступ к диагностике и всем документам по роли. Личные настройки ограничены возможностями выбранного PPD.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Входящие документы могут поступать из веб-интерфейса, IPP, CLI и доверенного почтового шлюза. Состояние unknown не приводит к слепому повтору: нужно проверить устройство, чтобы не печатать дубликаты. Физический выход страниц не подтверждается.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 используют системные IPP-клиенты. На Linux нужен работающий CUPS. Совместимость Add-Printer -IppURL и доменной авторизации на целевых версиях Windows проверяет администратор. Пользователь не может менять глобальный URI и PPD.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PIN содержит 8–12 цифр. Сохраняются защищённый проверочный хеш и индекс, а не открытый PIN. Терминал должен предъявить собственный ключ и PIN пользователя. Обычный пользователь выпускает только свои совместимые задания на доступный ему принтер. Интеграция панели требует отдельной реализации для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Мобильный веб-интерфейс GoPrint. Проверена адаптивная вёрстка на областях просмотра 320, 375, 390 и 768 пикселей; физические iOS/Android ещё требуют пилота. QR не выполняет автоматическую печать и не передаёт PIN. Существующая сессия используется сразу, иначе после входа пользователь возвращается на устройство. Источник: https://github.com/rkislov/goPrint/blob/main/docs/USER.md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содержит только HTTPS URL /device/&lt;id&gt;, не содержит секретов и генерируется сервером без внешних сервисов. Нужен доступный телефону public-url и доверенный сертификат. Права сканирования задаются отдельно либо наследуются от доступа к принтеру. eSCL/AirScan обязателен для запуска скана с телефона. Статические FTP/WebDAV назначения не меняют получателя от сканирования QR. Демонстрационный QR ведёт на пример адреса print.example.org; это не адрес реального внедрения. Источник: https://github.com/rkislov/goPrint/blob/main/docs/ADMINISTRATOR.md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GoPrint использует cupsfilter для цепочки преобразования и передаёт разрешённые параметры PageSize, Duplex и цвета. Исходные лицензии PPD и фильтров сохраняются. Пакеты Катюша содержат фильтры Linux amd64; наличие сборки GoPrint arm64 не означает наличие vendor-фильтра для arm64. Не все модели проверены на физическом устройстве.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Поддерживается HTTP SPN и AES keytab; NTLM, RC4 и DES не принимаются. Проверяются билеты, realm, replay и channel binding согласно настройкам. UPN-суффикс должен соответствовать настроенному DNS-домену; междоменные доверия и альтернативные суффиксы отдельно не реализованы. Реального Windows/AD пилота не было. На слайде демонстрационный интерфейс без реального контроллера.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eSCL добавляется вручную, автоматического поиска и WSD нет. Запросы рассчитаны на A4 RGB и выбранные разрешения. Для устройств только с отправкой файлов eSCL не требуется. Показанный документ действительно принят через WebDAV на изолированном демонстрационном аккаунте; это не испытание физического сканера.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WebDAV поддерживает прямой PUT. FTP/FTPS работает в пассивном режиме, с ограничениями размера и числа соединений. FTPS — explicit AUTH TLS с PROT P; обычный FTP требует явного разрешения и CIDR-подсетей. Приём для доменного пользователя требует рабочего LDAP и служебного чтения каталога. Статическая общая учётная запись устройства не заменяет аутентификацию на панели.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Доставка использует TLS/STARTTLS с проверкой сертификата. Пароль SMTP шифруется в БД. Правило применяется к новым подходящим завершённым сканам, включая личные назначения МФУ. Старые документы автоматически не рассылаются. Sent означает приём SMTP-сервером; при неоднозначном подтверждении DATA состояние unknown не вызывает немедленного повтора.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Шлюз должен передавать проверенного отправителя SMTP и стабильный идентификатор письма. GoPrint разрешает явные PDF/JPEG/PNG вложения, проверяет размер, ACL и владельца; тело письма не печатается. Приём через публичный SMTP или IMAP не реализован. Ключ шлюза используется только на доверенном MTA. Подмена From не определяет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Поддерживается отказ при недоступности или некорректном ответе сканера. ICAP принимает только чистый ответ 204; изменённые или блокирующие ответы отклоняются. Проверка доступности не доказывает актуальность сигнатур. Требуются настройка сервиса, сигнатур и пилот с тестовым образцом и отключением сервиса.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Watermark применяется к PDF перед PPD-преобразованием, поддерживает переменные пользователя, задания и даты. Он изменяет PDF и может нарушить цифровую подпись; это не DRM. SIEM экспортирует состояния через Syslog RFC 5424 TCP/TLS с octet-counting. Название и содержимое документа не передаются. Возможны дубликаты: дедупликация по instance_id + event_id. События не являются защищённым от изменения аудитом.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Мониторинг включается для каждого принтера. Поддерживаются SNMPv3 authPriv SHA-256/AES-128 и явно настроенный SNMPv2c. При сбое остаются последние успешные показания с датой. Отдельных фирменных vendor-OID профилей нет. Возможны сброс и переполнение аппаратного счётчика. Физические устройства и SNMPv3 нуждаются в пилоте.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Отработанный тонер оценивается по свободной ёмкости. Гистерезис более 3 процентных пунктов уменьшает дребезг. Три неудачных опроса создают предупреждение о связи. Одинаковые письма не отправляются при каждом опросе; интервал напоминания 1–720 часов. Неизвестный уровень не закрывает существующее предупреждение. Восстановление показателя не доказывает замену расходника.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Поставляются архивы Linux amd64 и arm64: сервер, CLI, инструменты PPD, миграции и почтового шлюза. DEB/RPM нет. Системные печатные фильтры и сертификаты готовит администратор. SQLite используется по умолчанию, PostgreSQL выбирается приватным DSN-файлом. Миграция офлайн с dry run, транзакцией и сверкой строк. Один каталог данных обслуживает один процесс; HA/кластерная эксплуатация и нагрузочные характеристики не заявлены.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Рекомендуемый пилот: согласовать модели, прошивки и Windows-клиенты; развернуть TLS и домен; проверить тестовую печать и PPD; проверить личное сканирование каждым протоколом и доступ другого пользователя; проверить антивирусный отказ и SMTP; настроить мониторинг и восстановление из резервной копии. На каждом шаге фиксировать фактический результат. Сроки, экономия и производительность не оценены.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Физическая совместимость и реальные AD/Windows/SNMPv3 не подтверждены аппаратным пилотом. В продукте нет SMB/USB, NTLM, WSD/автообнаружения сканеров и отдельного приложения панели МФУ. FTP не сообщает ожидаемую длину STOR: маркеры не доказывают полноту всех страниц. WebDAV MOVE/LOCK, implicit FTPS и SFTP не поддерживаются. Высокая доступность, нагрузочная ёмкость и SLA не заявлены. Это существенные условия оценки продукта, а не внутренний план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Репозиторий и публичные материалы: https://github.com/rkislov/goPrint . Выпуск: https://github.com/rkislov/goPrint/releases/tag/main . Лицензия исходного кода Apache License 2.0. Автор Кислов Роман Сергеевич. Сторонние PPD, фильтры и зависимости распространяются со своими лицензиями. Презентация не содержит внутреннего ТЗ или внутренних планов.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https://github.com/rkislov/goPrint/blob/main/docs/ADMINISTRATOR.md</a:t>
            </a:r>
          </a:p>
          <a:p xmlns:a="http://schemas.openxmlformats.org/drawingml/2006/main">
            <a:r>
              <a:t>Скриншоты: отдельный демонстрационный стенд GoPrint, без реальных документов и секретов.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b80de0ff0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853c5479649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6c9cfa56140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a01850a544c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529ae4cf24d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d48f80527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9723BD-616F-4CB4-AEB9-F8A860CBA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8EFDF0-7B66-4B92-9711-BD72F95BC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48B6BA-CDC9-4AC7-8EFB-83EE32919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61D328-D91E-4DED-8619-E52D38FAC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F11224-9F32-48A9-B7C4-A2A3C8957D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D7B7FC-6F28-452A-8E8B-A5F481502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F7F804-09B7-45A6-9705-EE534C9B14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740C0E-70E7-40C2-8B4E-F80781B0D5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C75594-8715-43B1-9E80-3B7AD9409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9AE630-417E-4D13-B7B3-8E44075B1A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5c6064d2704156" /><Relationship Type="http://schemas.openxmlformats.org/officeDocument/2006/relationships/slideLayout" Target="/ppt/slideLayouts/slideLayout1.xml" Id="Rc556be7975314f44" /><Relationship Type="http://schemas.openxmlformats.org/officeDocument/2006/relationships/slideLayout" Target="/ppt/slideLayouts/slideLayout2.xml" Id="Ra0b9e8a701874713" /><Relationship Type="http://schemas.openxmlformats.org/officeDocument/2006/relationships/slideLayout" Target="/ppt/slideLayouts/slideLayout3.xml" Id="Rc3575af75619480b" /><Relationship Type="http://schemas.openxmlformats.org/officeDocument/2006/relationships/slideLayout" Target="/ppt/slideLayouts/slideLayout4.xml" Id="R4008f7ea11844bd1" /><Relationship Type="http://schemas.openxmlformats.org/officeDocument/2006/relationships/slideLayout" Target="/ppt/slideLayouts/slideLayout5.xml" Id="Re8a4c0ed1af94c67" /><Relationship Type="http://schemas.openxmlformats.org/officeDocument/2006/relationships/slideLayout" Target="/ppt/slideLayouts/slideLayout6.xml" Id="R14c96a17948347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6be7975314f44"/>
    <p:sldLayoutId xmlns:r="http://schemas.openxmlformats.org/officeDocument/2006/relationships" id="2147483650" r:id="Ra0b9e8a701874713"/>
    <p:sldLayoutId xmlns:r="http://schemas.openxmlformats.org/officeDocument/2006/relationships" id="2147483651" r:id="Rc3575af75619480b"/>
    <p:sldLayoutId xmlns:r="http://schemas.openxmlformats.org/officeDocument/2006/relationships" id="2147483652" r:id="R4008f7ea11844bd1"/>
    <p:sldLayoutId xmlns:r="http://schemas.openxmlformats.org/officeDocument/2006/relationships" id="2147483653" r:id="Re8a4c0ed1af94c67"/>
    <p:sldLayoutId xmlns:r="http://schemas.openxmlformats.org/officeDocument/2006/relationships" id="2147483654" r:id="R14c96a17948347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8fe6aa2c94f5b" /><Relationship Type="http://schemas.openxmlformats.org/officeDocument/2006/relationships/notesSlide" Target="/ppt/notesSlides/notesSlide1.xml" Id="R2dbc41c762c74a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527e08e894c42" /><Relationship Type="http://schemas.openxmlformats.org/officeDocument/2006/relationships/image" Target="/ppt/media/image.png" Id="R926b08ee444f4eb6" /><Relationship Type="http://schemas.openxmlformats.org/officeDocument/2006/relationships/notesSlide" Target="/ppt/notesSlides/notesSlide2.xml" Id="Rc597164ac16c41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4b2a9e2044906" /><Relationship Type="http://schemas.openxmlformats.org/officeDocument/2006/relationships/notesSlide" Target="/ppt/notesSlides/notesSlide3.xml" Id="R5a688a43dab3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d92c4dda14760" /><Relationship Type="http://schemas.openxmlformats.org/officeDocument/2006/relationships/image" Target="/ppt/media/image2.png" Id="R5acab4d8e5694329" /><Relationship Type="http://schemas.openxmlformats.org/officeDocument/2006/relationships/notesSlide" Target="/ppt/notesSlides/notesSlide4.xml" Id="R1af1b59fc4b5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7be5a44f944f4" /><Relationship Type="http://schemas.openxmlformats.org/officeDocument/2006/relationships/image" Target="/ppt/media/image.jpeg" Id="R16a4254988b64292" /><Relationship Type="http://schemas.openxmlformats.org/officeDocument/2006/relationships/notesSlide" Target="/ppt/notesSlides/notesSlide5.xml" Id="Rcb03f87f0a8649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d90ae6e974864" /><Relationship Type="http://schemas.openxmlformats.org/officeDocument/2006/relationships/image" Target="/ppt/media/image2.jpeg" Id="R0b03150671754c2b" /><Relationship Type="http://schemas.openxmlformats.org/officeDocument/2006/relationships/notesSlide" Target="/ppt/notesSlides/notesSlide6.xml" Id="R1d6128d598da45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48d2bfa8043bc" /><Relationship Type="http://schemas.openxmlformats.org/officeDocument/2006/relationships/image" Target="/ppt/media/image3.png" Id="R8c6aa76fde9a46b8" /><Relationship Type="http://schemas.openxmlformats.org/officeDocument/2006/relationships/notesSlide" Target="/ppt/notesSlides/notesSlide7.xml" Id="R3e7a904095ab48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133aa50414d87" /><Relationship Type="http://schemas.openxmlformats.org/officeDocument/2006/relationships/image" Target="/ppt/media/image4.png" Id="R9c0d557d8b664522" /><Relationship Type="http://schemas.openxmlformats.org/officeDocument/2006/relationships/notesSlide" Target="/ppt/notesSlides/notesSlide8.xml" Id="Rcb54cbb636c740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e28e244b54c45" /><Relationship Type="http://schemas.openxmlformats.org/officeDocument/2006/relationships/image" Target="/ppt/media/image3.jpeg" Id="Rde658cd92dfb4532" /><Relationship Type="http://schemas.openxmlformats.org/officeDocument/2006/relationships/notesSlide" Target="/ppt/notesSlides/notesSlide9.xml" Id="R3b976687d11e49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49f614e8e4b02" /><Relationship Type="http://schemas.openxmlformats.org/officeDocument/2006/relationships/image" Target="/ppt/media/image4.jpeg" Id="R857a7d33fcd34610" /><Relationship Type="http://schemas.openxmlformats.org/officeDocument/2006/relationships/notesSlide" Target="/ppt/notesSlides/notesSlide10.xml" Id="R127b46af6d5846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4f4239b824d36" /><Relationship Type="http://schemas.openxmlformats.org/officeDocument/2006/relationships/image" Target="/ppt/media/image5.jpeg" Id="Rdb0ea3a54db54b32" /><Relationship Type="http://schemas.openxmlformats.org/officeDocument/2006/relationships/notesSlide" Target="/ppt/notesSlides/notesSlide11.xml" Id="R86ddb1ffb14744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49f88767b48b2" /><Relationship Type="http://schemas.openxmlformats.org/officeDocument/2006/relationships/image" Target="/ppt/media/image6.jpeg" Id="R75174ac8d4064a05" /><Relationship Type="http://schemas.openxmlformats.org/officeDocument/2006/relationships/notesSlide" Target="/ppt/notesSlides/notesSlide12.xml" Id="Re32d344c696143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df54093fb4d7c" /><Relationship Type="http://schemas.openxmlformats.org/officeDocument/2006/relationships/image" Target="/ppt/media/image7.jpeg" Id="R165f5e693d90440f" /><Relationship Type="http://schemas.openxmlformats.org/officeDocument/2006/relationships/notesSlide" Target="/ppt/notesSlides/notesSlide13.xml" Id="Rf98e61c9aba044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3470a944247b4" /><Relationship Type="http://schemas.openxmlformats.org/officeDocument/2006/relationships/image" Target="/ppt/media/image8.jpeg" Id="R561f04b1031545cf" /><Relationship Type="http://schemas.openxmlformats.org/officeDocument/2006/relationships/notesSlide" Target="/ppt/notesSlides/notesSlide14.xml" Id="Rd36b135f236f43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7016f2f3a4738" /><Relationship Type="http://schemas.openxmlformats.org/officeDocument/2006/relationships/image" Target="/ppt/media/image9.jpeg" Id="R61fbb5f034dd49fd" /><Relationship Type="http://schemas.openxmlformats.org/officeDocument/2006/relationships/notesSlide" Target="/ppt/notesSlides/notesSlide15.xml" Id="R5dc38f22c1554d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0ca9ef04b4025" /><Relationship Type="http://schemas.openxmlformats.org/officeDocument/2006/relationships/image" Target="/ppt/media/image5.png" Id="R694c087ae07e4ede" /><Relationship Type="http://schemas.openxmlformats.org/officeDocument/2006/relationships/image" Target="/ppt/media/image6.png" Id="R05d2b9bbba9340cc" /><Relationship Type="http://schemas.openxmlformats.org/officeDocument/2006/relationships/notesSlide" Target="/ppt/notesSlides/notesSlide16.xml" Id="R5fb493eadcfc4a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daf262334473d" /><Relationship Type="http://schemas.openxmlformats.org/officeDocument/2006/relationships/image" Target="/ppt/media/image7.png" Id="R9f9073c9315a4860" /><Relationship Type="http://schemas.openxmlformats.org/officeDocument/2006/relationships/notesSlide" Target="/ppt/notesSlides/notesSlide17.xml" Id="R2ee251a4b06e4a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20f9790bc4c2a" /><Relationship Type="http://schemas.openxmlformats.org/officeDocument/2006/relationships/image" Target="/ppt/media/image10.jpeg" Id="Rb697db752a9044de" /><Relationship Type="http://schemas.openxmlformats.org/officeDocument/2006/relationships/notesSlide" Target="/ppt/notesSlides/notesSlide18.xml" Id="Rfd89c45dd7ef47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0a2d09a544dac" /><Relationship Type="http://schemas.openxmlformats.org/officeDocument/2006/relationships/notesSlide" Target="/ppt/notesSlides/notesSlide19.xml" Id="Rfe480c3f9b0442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a1589bd67490c" /><Relationship Type="http://schemas.openxmlformats.org/officeDocument/2006/relationships/notesSlide" Target="/ppt/notesSlides/notesSlide20.xml" Id="Rb6104bc0b03943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44a896b7b4c04" /><Relationship Type="http://schemas.openxmlformats.org/officeDocument/2006/relationships/notesSlide" Target="/ppt/notesSlides/notesSlide21.xml" Id="Rfb003b9c6d3046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c1dafa31f4a52" /><Relationship Type="http://schemas.openxmlformats.org/officeDocument/2006/relationships/notesSlide" Target="/ppt/notesSlides/notesSlide22.xml" Id="R29381cc82a1e41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13169-72F3-4413-A9AD-2771734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0" b="1">
                <a:solidFill>
                  <a:srgbClr val="FFFFFF"/>
                </a:solidFill>
              </a:defRPr>
            </a:defPPr>
            <a:lvl1pPr>
              <a:defRPr sz="8250" b="1">
                <a:solidFill>
                  <a:srgbClr val="FFFFFF"/>
                </a:solidFill>
              </a:defRPr>
            </a:lvl1pPr>
            <a:lvl2pPr>
              <a:defRPr sz="8250" b="1">
                <a:solidFill>
                  <a:srgbClr val="FFFFFF"/>
                </a:solidFill>
              </a:defRPr>
            </a:lvl2pPr>
            <a:lvl3pPr>
              <a:defRPr sz="8250" b="1">
                <a:solidFill>
                  <a:srgbClr val="FFFFFF"/>
                </a:solidFill>
              </a:defRPr>
            </a:lvl3pPr>
            <a:lvl4pPr>
              <a:defRPr sz="8250" b="1">
                <a:solidFill>
                  <a:srgbClr val="FFFFFF"/>
                </a:solidFill>
              </a:defRPr>
            </a:lvl4pPr>
            <a:lvl5pPr>
              <a:defRPr sz="8250" b="1">
                <a:solidFill>
                  <a:srgbClr val="FFFFFF"/>
                </a:solidFill>
              </a:defRPr>
            </a:lvl5pPr>
            <a:lvl6pPr>
              <a:defRPr sz="8250" b="1">
                <a:solidFill>
                  <a:srgbClr val="FFFFFF"/>
                </a:solidFill>
              </a:defRPr>
            </a:lvl6pPr>
            <a:lvl7pPr>
              <a:defRPr sz="8250" b="1">
                <a:solidFill>
                  <a:srgbClr val="FFFFFF"/>
                </a:solidFill>
              </a:defRPr>
            </a:lvl7pPr>
            <a:lvl8pPr>
              <a:defRPr sz="8250" b="1">
                <a:solidFill>
                  <a:srgbClr val="FFFFFF"/>
                </a:solidFill>
              </a:defRPr>
            </a:lvl8pPr>
            <a:lvl9pPr>
              <a:defRPr sz="8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GoPrint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3EB6E-4C8A-467B-A76D-2DBC7BA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FFFFFF"/>
                </a:solidFill>
              </a:defRPr>
            </a:defPPr>
            <a:lvl1pPr>
              <a:defRPr sz="3900" b="0">
                <a:solidFill>
                  <a:srgbClr val="FFFFFF"/>
                </a:solidFill>
              </a:defRPr>
            </a:lvl1pPr>
            <a:lvl2pPr>
              <a:defRPr sz="3900" b="0">
                <a:solidFill>
                  <a:srgbClr val="FFFFFF"/>
                </a:solidFill>
              </a:defRPr>
            </a:lvl2pPr>
            <a:lvl3pPr>
              <a:defRPr sz="3900" b="0">
                <a:solidFill>
                  <a:srgbClr val="FFFFFF"/>
                </a:solidFill>
              </a:defRPr>
            </a:lvl3pPr>
            <a:lvl4pPr>
              <a:defRPr sz="3900" b="0">
                <a:solidFill>
                  <a:srgbClr val="FFFFFF"/>
                </a:solidFill>
              </a:defRPr>
            </a:lvl4pPr>
            <a:lvl5pPr>
              <a:defRPr sz="3900" b="0">
                <a:solidFill>
                  <a:srgbClr val="FFFFFF"/>
                </a:solidFill>
              </a:defRPr>
            </a:lvl5pPr>
            <a:lvl6pPr>
              <a:defRPr sz="3900" b="0">
                <a:solidFill>
                  <a:srgbClr val="FFFFFF"/>
                </a:solidFill>
              </a:defRPr>
            </a:lvl6pPr>
            <a:lvl7pPr>
              <a:defRPr sz="3900" b="0">
                <a:solidFill>
                  <a:srgbClr val="FFFFFF"/>
                </a:solidFill>
              </a:defRPr>
            </a:lvl7pPr>
            <a:lvl8pPr>
              <a:defRPr sz="3900" b="0">
                <a:solidFill>
                  <a:srgbClr val="FFFFFF"/>
                </a:solidFill>
              </a:defRPr>
            </a:lvl8pPr>
            <a:lvl9pPr>
              <a:defRPr sz="39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FFFFFF"/>
                </a:solidFill>
              </a:defRPr>
            </a:pPr>
            <a:r>
              <a:rPr sz="3900" b="0">
                <a:solidFill>
                  <a:srgbClr val="FFFFFF"/>
                </a:solidFill>
              </a:rPr>
              <a:t>Корпоративная печать</a:t>
            </a:r>
          </a:p>
          <a:p xmlns:a="http://schemas.openxmlformats.org/drawingml/2006/main">
            <a:pPr>
              <a:defRPr sz="3900" b="0">
                <a:solidFill>
                  <a:srgbClr val="FFFFFF"/>
                </a:solidFill>
              </a:defRPr>
            </a:pPr>
            <a:r>
              <a:rPr sz="3900" b="0">
                <a:solidFill>
                  <a:srgbClr val="FFFFFF"/>
                </a:solidFill>
              </a:rPr>
              <a:t>и сканирование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1045-BD96-4C50-8644-A1B93976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DD2C5"/>
                </a:solidFill>
              </a:defRPr>
            </a:defPPr>
            <a:lvl1pPr>
              <a:defRPr sz="1950" b="0">
                <a:solidFill>
                  <a:srgbClr val="BDD2C5"/>
                </a:solidFill>
              </a:defRPr>
            </a:lvl1pPr>
            <a:lvl2pPr>
              <a:defRPr sz="1950" b="0">
                <a:solidFill>
                  <a:srgbClr val="BDD2C5"/>
                </a:solidFill>
              </a:defRPr>
            </a:lvl2pPr>
            <a:lvl3pPr>
              <a:defRPr sz="1950" b="0">
                <a:solidFill>
                  <a:srgbClr val="BDD2C5"/>
                </a:solidFill>
              </a:defRPr>
            </a:lvl3pPr>
            <a:lvl4pPr>
              <a:defRPr sz="1950" b="0">
                <a:solidFill>
                  <a:srgbClr val="BDD2C5"/>
                </a:solidFill>
              </a:defRPr>
            </a:lvl4pPr>
            <a:lvl5pPr>
              <a:defRPr sz="1950" b="0">
                <a:solidFill>
                  <a:srgbClr val="BDD2C5"/>
                </a:solidFill>
              </a:defRPr>
            </a:lvl5pPr>
            <a:lvl6pPr>
              <a:defRPr sz="1950" b="0">
                <a:solidFill>
                  <a:srgbClr val="BDD2C5"/>
                </a:solidFill>
              </a:defRPr>
            </a:lvl6pPr>
            <a:lvl7pPr>
              <a:defRPr sz="1950" b="0">
                <a:solidFill>
                  <a:srgbClr val="BDD2C5"/>
                </a:solidFill>
              </a:defRPr>
            </a:lvl7pPr>
            <a:lvl8pPr>
              <a:defRPr sz="1950" b="0">
                <a:solidFill>
                  <a:srgbClr val="BDD2C5"/>
                </a:solidFill>
              </a:defRPr>
            </a:lvl8pPr>
            <a:lvl9pPr>
              <a:defRPr sz="1950" b="0">
                <a:solidFill>
                  <a:srgbClr val="BDD2C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DD2C5"/>
                </a:solidFill>
              </a:defRPr>
            </a:pPr>
            <a:r>
              <a:rPr sz="1950" b="0">
                <a:solidFill>
                  <a:srgbClr val="BDD2C5"/>
                </a:solidFill>
              </a:rPr>
              <a:t>Обзор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27468-8D3D-4E3D-A4E4-FA70A31C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DD2C5"/>
                </a:solidFill>
              </a:defRPr>
            </a:defPPr>
            <a:lvl1pPr>
              <a:defRPr sz="1650" b="0">
                <a:solidFill>
                  <a:srgbClr val="BDD2C5"/>
                </a:solidFill>
              </a:defRPr>
            </a:lvl1pPr>
            <a:lvl2pPr>
              <a:defRPr sz="1650" b="0">
                <a:solidFill>
                  <a:srgbClr val="BDD2C5"/>
                </a:solidFill>
              </a:defRPr>
            </a:lvl2pPr>
            <a:lvl3pPr>
              <a:defRPr sz="1650" b="0">
                <a:solidFill>
                  <a:srgbClr val="BDD2C5"/>
                </a:solidFill>
              </a:defRPr>
            </a:lvl3pPr>
            <a:lvl4pPr>
              <a:defRPr sz="1650" b="0">
                <a:solidFill>
                  <a:srgbClr val="BDD2C5"/>
                </a:solidFill>
              </a:defRPr>
            </a:lvl4pPr>
            <a:lvl5pPr>
              <a:defRPr sz="1650" b="0">
                <a:solidFill>
                  <a:srgbClr val="BDD2C5"/>
                </a:solidFill>
              </a:defRPr>
            </a:lvl5pPr>
            <a:lvl6pPr>
              <a:defRPr sz="1650" b="0">
                <a:solidFill>
                  <a:srgbClr val="BDD2C5"/>
                </a:solidFill>
              </a:defRPr>
            </a:lvl6pPr>
            <a:lvl7pPr>
              <a:defRPr sz="1650" b="0">
                <a:solidFill>
                  <a:srgbClr val="BDD2C5"/>
                </a:solidFill>
              </a:defRPr>
            </a:lvl7pPr>
            <a:lvl8pPr>
              <a:defRPr sz="1650" b="0">
                <a:solidFill>
                  <a:srgbClr val="BDD2C5"/>
                </a:solidFill>
              </a:defRPr>
            </a:lvl8pPr>
            <a:lvl9pPr>
              <a:defRPr sz="1650" b="0">
                <a:solidFill>
                  <a:srgbClr val="BDD2C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2C5"/>
                </a:solidFill>
              </a:defRPr>
            </a:pPr>
            <a:r>
              <a:rPr sz="1650" b="0">
                <a:solidFill>
                  <a:srgbClr val="BDD2C5"/>
                </a:solidFill>
              </a:rPr>
              <a:t>Кислов Роман Сергеевич · Apache License 2.0</a:t>
            </a:r>
          </a:p>
        </p:txBody>
      </p:sp>
    </p:spTree>
    <p:extLst>
      <p:ext uri="{BB962C8B-B14F-4D97-AF65-F5344CB8AC3E}">
        <p14:creationId xmlns:p14="http://schemas.microsoft.com/office/powerpoint/2010/main" val="2059749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899E5-170A-43A7-ACBE-84E7603F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О продукте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CD6C0-20AE-498E-99B5-89E87D00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7403E-7A3A-4A97-8323-7B114ED4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F35"/>
                </a:solidFill>
              </a:defRPr>
            </a:defPPr>
            <a:lvl1pPr>
              <a:defRPr sz="2700" b="1">
                <a:solidFill>
                  <a:srgbClr val="123F35"/>
                </a:solidFill>
              </a:defRPr>
            </a:lvl1pPr>
            <a:lvl2pPr>
              <a:defRPr sz="2700" b="1">
                <a:solidFill>
                  <a:srgbClr val="123F35"/>
                </a:solidFill>
              </a:defRPr>
            </a:lvl2pPr>
            <a:lvl3pPr>
              <a:defRPr sz="2700" b="1">
                <a:solidFill>
                  <a:srgbClr val="123F35"/>
                </a:solidFill>
              </a:defRPr>
            </a:lvl3pPr>
            <a:lvl4pPr>
              <a:defRPr sz="2700" b="1">
                <a:solidFill>
                  <a:srgbClr val="123F35"/>
                </a:solidFill>
              </a:defRPr>
            </a:lvl4pPr>
            <a:lvl5pPr>
              <a:defRPr sz="2700" b="1">
                <a:solidFill>
                  <a:srgbClr val="123F35"/>
                </a:solidFill>
              </a:defRPr>
            </a:lvl5pPr>
            <a:lvl6pPr>
              <a:defRPr sz="2700" b="1">
                <a:solidFill>
                  <a:srgbClr val="123F35"/>
                </a:solidFill>
              </a:defRPr>
            </a:lvl6pPr>
            <a:lvl7pPr>
              <a:defRPr sz="2700" b="1">
                <a:solidFill>
                  <a:srgbClr val="123F35"/>
                </a:solidFill>
              </a:defRPr>
            </a:lvl7pPr>
            <a:lvl8pPr>
              <a:defRPr sz="2700" b="1">
                <a:solidFill>
                  <a:srgbClr val="123F35"/>
                </a:solidFill>
              </a:defRPr>
            </a:lvl8pPr>
            <a:lvl9pPr>
              <a:defRPr sz="27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F35"/>
                </a:solidFill>
              </a:defRPr>
            </a:pPr>
            <a:r>
              <a:rPr sz="2700" b="1">
                <a:solidFill>
                  <a:srgbClr val="123F35"/>
                </a:solidFill>
              </a:rPr>
              <a:t>Один сервер для печати</a:t>
            </a:r>
          </a:p>
          <a:p xmlns:a="http://schemas.openxmlformats.org/drawingml/2006/main">
            <a:pPr>
              <a:defRPr sz="2700" b="1">
                <a:solidFill>
                  <a:srgbClr val="123F35"/>
                </a:solidFill>
              </a:defRPr>
            </a:pPr>
            <a:r>
              <a:rPr sz="2700" b="1">
                <a:solidFill>
                  <a:srgbClr val="123F35"/>
                </a:solidFill>
              </a:rPr>
              <a:t>и приёма сканов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53C86-7D86-4158-839D-501B1667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D36"/>
                </a:solidFill>
              </a:defRPr>
            </a:defPPr>
            <a:lvl1pPr>
              <a:defRPr sz="1875" b="0">
                <a:solidFill>
                  <a:srgbClr val="203D36"/>
                </a:solidFill>
              </a:defRPr>
            </a:lvl1pPr>
            <a:lvl2pPr>
              <a:defRPr sz="1875" b="0">
                <a:solidFill>
                  <a:srgbClr val="203D36"/>
                </a:solidFill>
              </a:defRPr>
            </a:lvl2pPr>
            <a:lvl3pPr>
              <a:defRPr sz="1875" b="0">
                <a:solidFill>
                  <a:srgbClr val="203D36"/>
                </a:solidFill>
              </a:defRPr>
            </a:lvl3pPr>
            <a:lvl4pPr>
              <a:defRPr sz="1875" b="0">
                <a:solidFill>
                  <a:srgbClr val="203D36"/>
                </a:solidFill>
              </a:defRPr>
            </a:lvl4pPr>
            <a:lvl5pPr>
              <a:defRPr sz="1875" b="0">
                <a:solidFill>
                  <a:srgbClr val="203D36"/>
                </a:solidFill>
              </a:defRPr>
            </a:lvl5pPr>
            <a:lvl6pPr>
              <a:defRPr sz="1875" b="0">
                <a:solidFill>
                  <a:srgbClr val="203D36"/>
                </a:solidFill>
              </a:defRPr>
            </a:lvl6pPr>
            <a:lvl7pPr>
              <a:defRPr sz="1875" b="0">
                <a:solidFill>
                  <a:srgbClr val="203D36"/>
                </a:solidFill>
              </a:defRPr>
            </a:lvl7pPr>
            <a:lvl8pPr>
              <a:defRPr sz="1875" b="0">
                <a:solidFill>
                  <a:srgbClr val="203D36"/>
                </a:solidFill>
              </a:defRPr>
            </a:lvl8pPr>
            <a:lvl9pPr>
              <a:defRPr sz="18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D36"/>
                </a:solidFill>
              </a:defRPr>
            </a:pPr>
            <a:r>
              <a:rPr sz="1875" b="0">
                <a:solidFill>
                  <a:srgbClr val="203D36"/>
                </a:solidFill>
              </a:rPr>
              <a:t>Собственная постоянная очередь и веб-интерфейс.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4100C-CA95-457B-999B-B2EB2BB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D36"/>
                </a:solidFill>
              </a:defRPr>
            </a:defPPr>
            <a:lvl1pPr>
              <a:defRPr sz="1875" b="0">
                <a:solidFill>
                  <a:srgbClr val="203D36"/>
                </a:solidFill>
              </a:defRPr>
            </a:lvl1pPr>
            <a:lvl2pPr>
              <a:defRPr sz="1875" b="0">
                <a:solidFill>
                  <a:srgbClr val="203D36"/>
                </a:solidFill>
              </a:defRPr>
            </a:lvl2pPr>
            <a:lvl3pPr>
              <a:defRPr sz="1875" b="0">
                <a:solidFill>
                  <a:srgbClr val="203D36"/>
                </a:solidFill>
              </a:defRPr>
            </a:lvl3pPr>
            <a:lvl4pPr>
              <a:defRPr sz="1875" b="0">
                <a:solidFill>
                  <a:srgbClr val="203D36"/>
                </a:solidFill>
              </a:defRPr>
            </a:lvl4pPr>
            <a:lvl5pPr>
              <a:defRPr sz="1875" b="0">
                <a:solidFill>
                  <a:srgbClr val="203D36"/>
                </a:solidFill>
              </a:defRPr>
            </a:lvl5pPr>
            <a:lvl6pPr>
              <a:defRPr sz="1875" b="0">
                <a:solidFill>
                  <a:srgbClr val="203D36"/>
                </a:solidFill>
              </a:defRPr>
            </a:lvl6pPr>
            <a:lvl7pPr>
              <a:defRPr sz="1875" b="0">
                <a:solidFill>
                  <a:srgbClr val="203D36"/>
                </a:solidFill>
              </a:defRPr>
            </a:lvl7pPr>
            <a:lvl8pPr>
              <a:defRPr sz="1875" b="0">
                <a:solidFill>
                  <a:srgbClr val="203D36"/>
                </a:solidFill>
              </a:defRPr>
            </a:lvl8pPr>
            <a:lvl9pPr>
              <a:defRPr sz="18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D36"/>
                </a:solidFill>
              </a:defRPr>
            </a:pPr>
            <a:r>
              <a:rPr sz="1875" b="0">
                <a:solidFill>
                  <a:srgbClr val="203D36"/>
                </a:solidFill>
              </a:rPr>
              <a:t>Работа с сетевыми принтерами и МФУ через открытые протоколы.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7FD3A-C393-4151-9221-0884DABB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D36"/>
                </a:solidFill>
              </a:defRPr>
            </a:defPPr>
            <a:lvl1pPr>
              <a:defRPr sz="1875" b="0">
                <a:solidFill>
                  <a:srgbClr val="203D36"/>
                </a:solidFill>
              </a:defRPr>
            </a:lvl1pPr>
            <a:lvl2pPr>
              <a:defRPr sz="1875" b="0">
                <a:solidFill>
                  <a:srgbClr val="203D36"/>
                </a:solidFill>
              </a:defRPr>
            </a:lvl2pPr>
            <a:lvl3pPr>
              <a:defRPr sz="1875" b="0">
                <a:solidFill>
                  <a:srgbClr val="203D36"/>
                </a:solidFill>
              </a:defRPr>
            </a:lvl3pPr>
            <a:lvl4pPr>
              <a:defRPr sz="1875" b="0">
                <a:solidFill>
                  <a:srgbClr val="203D36"/>
                </a:solidFill>
              </a:defRPr>
            </a:lvl4pPr>
            <a:lvl5pPr>
              <a:defRPr sz="1875" b="0">
                <a:solidFill>
                  <a:srgbClr val="203D36"/>
                </a:solidFill>
              </a:defRPr>
            </a:lvl5pPr>
            <a:lvl6pPr>
              <a:defRPr sz="1875" b="0">
                <a:solidFill>
                  <a:srgbClr val="203D36"/>
                </a:solidFill>
              </a:defRPr>
            </a:lvl6pPr>
            <a:lvl7pPr>
              <a:defRPr sz="1875" b="0">
                <a:solidFill>
                  <a:srgbClr val="203D36"/>
                </a:solidFill>
              </a:defRPr>
            </a:lvl7pPr>
            <a:lvl8pPr>
              <a:defRPr sz="1875" b="0">
                <a:solidFill>
                  <a:srgbClr val="203D36"/>
                </a:solidFill>
              </a:defRPr>
            </a:lvl8pPr>
            <a:lvl9pPr>
              <a:defRPr sz="18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D36"/>
                </a:solidFill>
              </a:defRPr>
            </a:pPr>
            <a:r>
              <a:rPr sz="1875" b="0">
                <a:solidFill>
                  <a:srgbClr val="203D36"/>
                </a:solidFill>
              </a:rPr>
              <a:t>Доменная идентификация и настройки корпоративной среды.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82B51-E77D-468C-95E0-834209DC1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b08ee444f4eb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000" y="1828800"/>
            <a:ext cx="6191250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03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03A62-379D-4204-A5FD-4CBA0C52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Пользователь и администратор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7BB29-345D-4C65-9D68-759B798C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F984B-BB11-4E5A-AB4B-0ADED5A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F35"/>
                </a:solidFill>
              </a:defRPr>
            </a:defPPr>
            <a:lvl1pPr>
              <a:defRPr sz="2700" b="1">
                <a:solidFill>
                  <a:srgbClr val="123F35"/>
                </a:solidFill>
              </a:defRPr>
            </a:lvl1pPr>
            <a:lvl2pPr>
              <a:defRPr sz="2700" b="1">
                <a:solidFill>
                  <a:srgbClr val="123F35"/>
                </a:solidFill>
              </a:defRPr>
            </a:lvl2pPr>
            <a:lvl3pPr>
              <a:defRPr sz="2700" b="1">
                <a:solidFill>
                  <a:srgbClr val="123F35"/>
                </a:solidFill>
              </a:defRPr>
            </a:lvl3pPr>
            <a:lvl4pPr>
              <a:defRPr sz="2700" b="1">
                <a:solidFill>
                  <a:srgbClr val="123F35"/>
                </a:solidFill>
              </a:defRPr>
            </a:lvl4pPr>
            <a:lvl5pPr>
              <a:defRPr sz="2700" b="1">
                <a:solidFill>
                  <a:srgbClr val="123F35"/>
                </a:solidFill>
              </a:defRPr>
            </a:lvl5pPr>
            <a:lvl6pPr>
              <a:defRPr sz="2700" b="1">
                <a:solidFill>
                  <a:srgbClr val="123F35"/>
                </a:solidFill>
              </a:defRPr>
            </a:lvl6pPr>
            <a:lvl7pPr>
              <a:defRPr sz="2700" b="1">
                <a:solidFill>
                  <a:srgbClr val="123F35"/>
                </a:solidFill>
              </a:defRPr>
            </a:lvl7pPr>
            <a:lvl8pPr>
              <a:defRPr sz="2700" b="1">
                <a:solidFill>
                  <a:srgbClr val="123F35"/>
                </a:solidFill>
              </a:defRPr>
            </a:lvl8pPr>
            <a:lvl9pPr>
              <a:defRPr sz="27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F35"/>
                </a:solidFill>
              </a:defRPr>
            </a:pPr>
            <a:r>
              <a:rPr sz="2700" b="1">
                <a:solidFill>
                  <a:srgbClr val="123F35"/>
                </a:solidFill>
              </a:rPr>
              <a:t>Пользователь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1896F-DB8B-4E13-91CE-FA85A3CA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F35"/>
                </a:solidFill>
              </a:defRPr>
            </a:defPPr>
            <a:lvl1pPr>
              <a:defRPr sz="2700" b="1">
                <a:solidFill>
                  <a:srgbClr val="123F35"/>
                </a:solidFill>
              </a:defRPr>
            </a:lvl1pPr>
            <a:lvl2pPr>
              <a:defRPr sz="2700" b="1">
                <a:solidFill>
                  <a:srgbClr val="123F35"/>
                </a:solidFill>
              </a:defRPr>
            </a:lvl2pPr>
            <a:lvl3pPr>
              <a:defRPr sz="2700" b="1">
                <a:solidFill>
                  <a:srgbClr val="123F35"/>
                </a:solidFill>
              </a:defRPr>
            </a:lvl3pPr>
            <a:lvl4pPr>
              <a:defRPr sz="2700" b="1">
                <a:solidFill>
                  <a:srgbClr val="123F35"/>
                </a:solidFill>
              </a:defRPr>
            </a:lvl4pPr>
            <a:lvl5pPr>
              <a:defRPr sz="2700" b="1">
                <a:solidFill>
                  <a:srgbClr val="123F35"/>
                </a:solidFill>
              </a:defRPr>
            </a:lvl5pPr>
            <a:lvl6pPr>
              <a:defRPr sz="2700" b="1">
                <a:solidFill>
                  <a:srgbClr val="123F35"/>
                </a:solidFill>
              </a:defRPr>
            </a:lvl6pPr>
            <a:lvl7pPr>
              <a:defRPr sz="2700" b="1">
                <a:solidFill>
                  <a:srgbClr val="123F35"/>
                </a:solidFill>
              </a:defRPr>
            </a:lvl7pPr>
            <a:lvl8pPr>
              <a:defRPr sz="2700" b="1">
                <a:solidFill>
                  <a:srgbClr val="123F35"/>
                </a:solidFill>
              </a:defRPr>
            </a:lvl8pPr>
            <a:lvl9pPr>
              <a:defRPr sz="27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F35"/>
                </a:solidFill>
              </a:defRPr>
            </a:pPr>
            <a:r>
              <a:rPr sz="2700" b="1">
                <a:solidFill>
                  <a:srgbClr val="123F35"/>
                </a:solidFill>
              </a:rPr>
              <a:t>Администратор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02621-FE6D-496C-A922-0F2096E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Доступные ему принтеры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FAAF0-017A-4C73-BC16-9189B37E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Личные бумага, цвет и дуплекс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08851-06CF-40E8-8441-E2E03E0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Follow Me и собственные сканы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527CD-903E-4CBA-BADB-EE297A3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Правила доставки на почту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E9A9-2923-497D-B017-8680609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Устройства, PPD и фильтры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03FD8-0D82-4F36-992D-171C7A06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Домен, доступ и keytab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98CC9-B47B-45A2-A649-ECF90F3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Безопасность и журналирование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63565-84FF-4D12-BDDB-53E333E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Счётчики и расходники</a:t>
            </a:r>
          </a:p>
        </p:txBody>
      </p:sp>
    </p:spTree>
    <p:extLst>
      <p:ext uri="{BB962C8B-B14F-4D97-AF65-F5344CB8AC3E}">
        <p14:creationId xmlns:p14="http://schemas.microsoft.com/office/powerpoint/2010/main" val="195456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35753-E2A4-4883-8B56-E3CCFB13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Постоянная очередь печати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7F00D-145F-4C57-AE64-C823EBFF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8281D-0E52-4F42-96BD-3C7680D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Документ сохраняется до обработки задания.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3A71B-FDCB-4B81-AD3F-0F33181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Антивирус, watermark и PPD-фильтр выполняются на сервере.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8BD7F-58BD-45A5-B679-420F81AC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Передача через IPP/IPPS или JetDirect; результат виден в очереди.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7185C-6F0E-48EE-82E5-304A62F95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ab4d8e56943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000" y="1828800"/>
            <a:ext cx="6191250" cy="3952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C47A3-348F-4C57-9FBE-0624663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«Передано» подтверждает приём данных, а не выход бумаги.</a:t>
            </a:r>
          </a:p>
        </p:txBody>
      </p:sp>
    </p:spTree>
    <p:extLst>
      <p:ext uri="{BB962C8B-B14F-4D97-AF65-F5344CB8AC3E}">
        <p14:creationId xmlns:p14="http://schemas.microsoft.com/office/powerpoint/2010/main" val="698700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27839-38B7-419A-A583-196E842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Личные параметры и доступ к принтерам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73825-D3DB-4A08-BA0D-3DEE8F0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8AAA5-87EB-41E3-B65B-3AFE8BB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Принтеры доступны по пользователям и доменным группам.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6322A-E804-4F35-8AB9-B6E892F6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Бумага, дуплекс и цвет выбираются из возможностей PPD.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298F4-719C-4624-8251-B1438815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Сценарии подключения для Linux и Windows выдаются из интерфейса.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3594E-B378-4BED-A3EE-FBD22E169C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4254988b64292"/>
          <a:stretch xmlns:a="http://schemas.openxmlformats.org/drawingml/2006/main"/>
        </p:blipFill>
        <p:spPr>
          <a:xfrm xmlns:a="http://schemas.openxmlformats.org/drawingml/2006/main">
            <a:off x="5634222" y="1828800"/>
            <a:ext cx="5590807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03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AEC30-B142-4AB2-9987-4BE5853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Follow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6464B-B0EC-43B4-8FD7-4613489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6174E-0108-4E9A-A9EF-0893B0CA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Пользователь сам задаёт личный PIN.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FD1DF-F25D-458F-BC43-3AB90A31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Задание удерживается до выпуска на разрешённом принтере.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B7025-1327-4713-9F2B-A30FF85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Для терминала предусмотрены ключ устройства и API выдачи.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D3DD0-2E12-4AB4-BD70-C06F90527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3150671754c2b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C2316-AB5B-4553-AA16-9BED581A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Приложение для панели конкретного МФУ в поставку не входит.</a:t>
            </a:r>
          </a:p>
        </p:txBody>
      </p:sp>
    </p:spTree>
    <p:extLst>
      <p:ext uri="{BB962C8B-B14F-4D97-AF65-F5344CB8AC3E}">
        <p14:creationId xmlns:p14="http://schemas.microsoft.com/office/powerpoint/2010/main" val="2015028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F8EDE-1915-4F65-9F0F-EFF619D2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Моя очередь на телефоне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B50EE-3DA5-415B-85C0-6EE9A08D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35"/>
                </a:solidFill>
              </a:defRPr>
            </a:defPPr>
            <a:lvl1pPr>
              <a:defRPr sz="2550" b="1">
                <a:solidFill>
                  <a:srgbClr val="123F35"/>
                </a:solidFill>
              </a:defRPr>
            </a:lvl1pPr>
            <a:lvl2pPr>
              <a:defRPr sz="2550" b="1">
                <a:solidFill>
                  <a:srgbClr val="123F35"/>
                </a:solidFill>
              </a:defRPr>
            </a:lvl2pPr>
            <a:lvl3pPr>
              <a:defRPr sz="2550" b="1">
                <a:solidFill>
                  <a:srgbClr val="123F35"/>
                </a:solidFill>
              </a:defRPr>
            </a:lvl3pPr>
            <a:lvl4pPr>
              <a:defRPr sz="2550" b="1">
                <a:solidFill>
                  <a:srgbClr val="123F35"/>
                </a:solidFill>
              </a:defRPr>
            </a:lvl4pPr>
            <a:lvl5pPr>
              <a:defRPr sz="2550" b="1">
                <a:solidFill>
                  <a:srgbClr val="123F35"/>
                </a:solidFill>
              </a:defRPr>
            </a:lvl5pPr>
            <a:lvl6pPr>
              <a:defRPr sz="2550" b="1">
                <a:solidFill>
                  <a:srgbClr val="123F35"/>
                </a:solidFill>
              </a:defRPr>
            </a:lvl6pPr>
            <a:lvl7pPr>
              <a:defRPr sz="2550" b="1">
                <a:solidFill>
                  <a:srgbClr val="123F35"/>
                </a:solidFill>
              </a:defRPr>
            </a:lvl7pPr>
            <a:lvl8pPr>
              <a:defRPr sz="2550" b="1">
                <a:solidFill>
                  <a:srgbClr val="123F35"/>
                </a:solidFill>
              </a:defRPr>
            </a:lvl8pPr>
            <a:lvl9pPr>
              <a:defRPr sz="25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35"/>
                </a:solidFill>
              </a:defRPr>
            </a:pPr>
            <a:r>
              <a:rPr sz="2550" b="1">
                <a:solidFill>
                  <a:srgbClr val="123F35"/>
                </a:solidFill>
              </a:rPr>
              <a:t>Управление из мобильного браузера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18A61-C399-469B-BACF-F02F143C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F35"/>
                </a:solidFill>
              </a:defRPr>
            </a:defPPr>
            <a:lvl1pPr>
              <a:defRPr sz="2250" b="0">
                <a:solidFill>
                  <a:srgbClr val="123F35"/>
                </a:solidFill>
              </a:defRPr>
            </a:lvl1pPr>
            <a:lvl2pPr>
              <a:defRPr sz="2250" b="0">
                <a:solidFill>
                  <a:srgbClr val="123F35"/>
                </a:solidFill>
              </a:defRPr>
            </a:lvl2pPr>
            <a:lvl3pPr>
              <a:defRPr sz="2250" b="0">
                <a:solidFill>
                  <a:srgbClr val="123F35"/>
                </a:solidFill>
              </a:defRPr>
            </a:lvl3pPr>
            <a:lvl4pPr>
              <a:defRPr sz="2250" b="0">
                <a:solidFill>
                  <a:srgbClr val="123F35"/>
                </a:solidFill>
              </a:defRPr>
            </a:lvl4pPr>
            <a:lvl5pPr>
              <a:defRPr sz="2250" b="0">
                <a:solidFill>
                  <a:srgbClr val="123F35"/>
                </a:solidFill>
              </a:defRPr>
            </a:lvl5pPr>
            <a:lvl6pPr>
              <a:defRPr sz="2250" b="0">
                <a:solidFill>
                  <a:srgbClr val="123F35"/>
                </a:solidFill>
              </a:defRPr>
            </a:lvl6pPr>
            <a:lvl7pPr>
              <a:defRPr sz="2250" b="0">
                <a:solidFill>
                  <a:srgbClr val="123F35"/>
                </a:solidFill>
              </a:defRPr>
            </a:lvl7pPr>
            <a:lvl8pPr>
              <a:defRPr sz="2250" b="0">
                <a:solidFill>
                  <a:srgbClr val="123F35"/>
                </a:solidFill>
              </a:defRPr>
            </a:lvl8pPr>
            <a:lvl9pPr>
              <a:defRPr sz="2250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F35"/>
                </a:solidFill>
              </a:defRPr>
            </a:pPr>
            <a:r>
              <a:rPr sz="2250" b="0">
                <a:solidFill>
                  <a:srgbClr val="123F35"/>
                </a:solidFill>
              </a:rPr>
              <a:t>Очередь карточками: состояние и отмена задания.</a:t>
            </a:r>
          </a:p>
          <a:p xmlns:a="http://schemas.openxmlformats.org/drawingml/2006/main">
            <a:pPr>
              <a:defRPr sz="2250" b="0">
                <a:solidFill>
                  <a:srgbClr val="123F35"/>
                </a:solidFill>
              </a:defRPr>
            </a:pPr>
            <a:r>
              <a:rPr sz="2250" b="0">
                <a:solidFill>
                  <a:srgbClr val="123F35"/>
                </a:solidFill>
              </a:rPr>
              <a:t>Крупные элементы управления и свёрнутое меню.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F0404-A307-4B03-8ED6-9574914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F35"/>
                </a:solidFill>
              </a:defRPr>
            </a:defPPr>
            <a:lvl1pPr>
              <a:defRPr sz="2250" b="0">
                <a:solidFill>
                  <a:srgbClr val="123F35"/>
                </a:solidFill>
              </a:defRPr>
            </a:lvl1pPr>
            <a:lvl2pPr>
              <a:defRPr sz="2250" b="0">
                <a:solidFill>
                  <a:srgbClr val="123F35"/>
                </a:solidFill>
              </a:defRPr>
            </a:lvl2pPr>
            <a:lvl3pPr>
              <a:defRPr sz="2250" b="0">
                <a:solidFill>
                  <a:srgbClr val="123F35"/>
                </a:solidFill>
              </a:defRPr>
            </a:lvl3pPr>
            <a:lvl4pPr>
              <a:defRPr sz="2250" b="0">
                <a:solidFill>
                  <a:srgbClr val="123F35"/>
                </a:solidFill>
              </a:defRPr>
            </a:lvl4pPr>
            <a:lvl5pPr>
              <a:defRPr sz="2250" b="0">
                <a:solidFill>
                  <a:srgbClr val="123F35"/>
                </a:solidFill>
              </a:defRPr>
            </a:lvl5pPr>
            <a:lvl6pPr>
              <a:defRPr sz="2250" b="0">
                <a:solidFill>
                  <a:srgbClr val="123F35"/>
                </a:solidFill>
              </a:defRPr>
            </a:lvl6pPr>
            <a:lvl7pPr>
              <a:defRPr sz="2250" b="0">
                <a:solidFill>
                  <a:srgbClr val="123F35"/>
                </a:solidFill>
              </a:defRPr>
            </a:lvl7pPr>
            <a:lvl8pPr>
              <a:defRPr sz="2250" b="0">
                <a:solidFill>
                  <a:srgbClr val="123F35"/>
                </a:solidFill>
              </a:defRPr>
            </a:lvl8pPr>
            <a:lvl9pPr>
              <a:defRPr sz="2250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F35"/>
                </a:solidFill>
              </a:defRPr>
            </a:pPr>
            <a:r>
              <a:rPr sz="2250" b="0">
                <a:solidFill>
                  <a:srgbClr val="123F35"/>
                </a:solidFill>
              </a:rPr>
              <a:t>По QR открывается выбранное устройство.</a:t>
            </a:r>
          </a:p>
          <a:p xmlns:a="http://schemas.openxmlformats.org/drawingml/2006/main">
            <a:pPr>
              <a:defRPr sz="2250" b="0">
                <a:solidFill>
                  <a:srgbClr val="123F35"/>
                </a:solidFill>
              </a:defRPr>
            </a:pPr>
            <a:r>
              <a:rPr sz="2250" b="0">
                <a:solidFill>
                  <a:srgbClr val="123F35"/>
                </a:solidFill>
              </a:rPr>
              <a:t>Свои задания Follow Me выпускаются после</a:t>
            </a:r>
          </a:p>
          <a:p xmlns:a="http://schemas.openxmlformats.org/drawingml/2006/main">
            <a:pPr>
              <a:defRPr sz="2250" b="0">
                <a:solidFill>
                  <a:srgbClr val="123F35"/>
                </a:solidFill>
              </a:defRPr>
            </a:pPr>
            <a:r>
              <a:rPr sz="2250" b="0">
                <a:solidFill>
                  <a:srgbClr val="123F35"/>
                </a:solidFill>
              </a:rPr>
              <a:t>подтверждения личным кодом.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C66BF-B4BE-4359-AAF7-18A27A143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aa76fde9a46b8"/>
          <a:stretch xmlns:a="http://schemas.openxmlformats.org/drawingml/2006/main"/>
        </p:blipFill>
        <p:spPr>
          <a:xfrm xmlns:a="http://schemas.openxmlformats.org/drawingml/2006/main">
            <a:off x="8667750" y="1714500"/>
            <a:ext cx="2476500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83DE-D1F7-4EEA-A32F-AEB26251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5436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23F35"/>
                </a:solidFill>
              </a:defRPr>
            </a:defPPr>
            <a:lvl1pPr>
              <a:defRPr sz="1350" b="0">
                <a:solidFill>
                  <a:srgbClr val="123F35"/>
                </a:solidFill>
              </a:defRPr>
            </a:lvl1pPr>
            <a:lvl2pPr>
              <a:defRPr sz="1350" b="0">
                <a:solidFill>
                  <a:srgbClr val="123F35"/>
                </a:solidFill>
              </a:defRPr>
            </a:lvl2pPr>
            <a:lvl3pPr>
              <a:defRPr sz="1350" b="0">
                <a:solidFill>
                  <a:srgbClr val="123F35"/>
                </a:solidFill>
              </a:defRPr>
            </a:lvl3pPr>
            <a:lvl4pPr>
              <a:defRPr sz="1350" b="0">
                <a:solidFill>
                  <a:srgbClr val="123F35"/>
                </a:solidFill>
              </a:defRPr>
            </a:lvl4pPr>
            <a:lvl5pPr>
              <a:defRPr sz="1350" b="0">
                <a:solidFill>
                  <a:srgbClr val="123F35"/>
                </a:solidFill>
              </a:defRPr>
            </a:lvl5pPr>
            <a:lvl6pPr>
              <a:defRPr sz="1350" b="0">
                <a:solidFill>
                  <a:srgbClr val="123F35"/>
                </a:solidFill>
              </a:defRPr>
            </a:lvl6pPr>
            <a:lvl7pPr>
              <a:defRPr sz="1350" b="0">
                <a:solidFill>
                  <a:srgbClr val="123F35"/>
                </a:solidFill>
              </a:defRPr>
            </a:lvl7pPr>
            <a:lvl8pPr>
              <a:defRPr sz="1350" b="0">
                <a:solidFill>
                  <a:srgbClr val="123F35"/>
                </a:solidFill>
              </a:defRPr>
            </a:lvl8pPr>
            <a:lvl9pPr>
              <a:defRPr sz="1350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23F35"/>
                </a:solidFill>
              </a:defRPr>
            </a:pPr>
            <a:r>
              <a:rPr sz="1350" b="0">
                <a:solidFill>
                  <a:srgbClr val="123F35"/>
                </a:solidFill>
              </a:rPr>
              <a:t>GoPrint  /  07</a:t>
            </a:r>
          </a:p>
        </p:txBody>
      </p:sp>
    </p:spTree>
    <p:extLst>
      <p:ext uri="{BB962C8B-B14F-4D97-AF65-F5344CB8AC3E}">
        <p14:creationId xmlns:p14="http://schemas.microsoft.com/office/powerpoint/2010/main" val="88750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7FCDF-1D46-4394-9B43-27B8489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QR-наклейки для принтеров и МФУ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7CE4-EFA7-418D-BBF2-4AD02A172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d557d8b664522"/>
          <a:stretch xmlns:a="http://schemas.openxmlformats.org/drawingml/2006/main"/>
        </p:blipFill>
        <p:spPr>
          <a:xfrm xmlns:a="http://schemas.openxmlformats.org/drawingml/2006/main">
            <a:off x="857250" y="20764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F6FCC-9700-42FB-A067-6A66E213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23F35"/>
                </a:solidFill>
              </a:defRPr>
            </a:defPPr>
            <a:lvl1pPr>
              <a:defRPr sz="1800" b="0">
                <a:solidFill>
                  <a:srgbClr val="123F35"/>
                </a:solidFill>
              </a:defRPr>
            </a:lvl1pPr>
            <a:lvl2pPr>
              <a:defRPr sz="1800" b="0">
                <a:solidFill>
                  <a:srgbClr val="123F35"/>
                </a:solidFill>
              </a:defRPr>
            </a:lvl2pPr>
            <a:lvl3pPr>
              <a:defRPr sz="1800" b="0">
                <a:solidFill>
                  <a:srgbClr val="123F35"/>
                </a:solidFill>
              </a:defRPr>
            </a:lvl3pPr>
            <a:lvl4pPr>
              <a:defRPr sz="1800" b="0">
                <a:solidFill>
                  <a:srgbClr val="123F35"/>
                </a:solidFill>
              </a:defRPr>
            </a:lvl4pPr>
            <a:lvl5pPr>
              <a:defRPr sz="1800" b="0">
                <a:solidFill>
                  <a:srgbClr val="123F35"/>
                </a:solidFill>
              </a:defRPr>
            </a:lvl5pPr>
            <a:lvl6pPr>
              <a:defRPr sz="1800" b="0">
                <a:solidFill>
                  <a:srgbClr val="123F35"/>
                </a:solidFill>
              </a:defRPr>
            </a:lvl6pPr>
            <a:lvl7pPr>
              <a:defRPr sz="1800" b="0">
                <a:solidFill>
                  <a:srgbClr val="123F35"/>
                </a:solidFill>
              </a:defRPr>
            </a:lvl7pPr>
            <a:lvl8pPr>
              <a:defRPr sz="1800" b="0">
                <a:solidFill>
                  <a:srgbClr val="123F35"/>
                </a:solidFill>
              </a:defRPr>
            </a:lvl8pPr>
            <a:lvl9pPr>
              <a:defRPr sz="1800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23F35"/>
                </a:solidFill>
              </a:defRPr>
            </a:pPr>
            <a:r>
              <a:rPr sz="1800" b="0">
                <a:solidFill>
                  <a:srgbClr val="123F35"/>
                </a:solidFill>
              </a:rPr>
              <a:t>Пример наклейки</a:t>
            </a:r>
          </a:p>
          <a:p xmlns:a="http://schemas.openxmlformats.org/drawingml/2006/main">
            <a:pPr>
              <a:defRPr sz="1800" b="0">
                <a:solidFill>
                  <a:srgbClr val="123F35"/>
                </a:solidFill>
              </a:defRPr>
            </a:pPr>
            <a:r>
              <a:rPr sz="1800" b="0">
                <a:solidFill>
                  <a:srgbClr val="123F35"/>
                </a:solidFill>
              </a:rPr>
              <a:t>Адрес задаёт администратор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0F3F2-7800-4FBE-A515-ECDEF22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35"/>
                </a:solidFill>
              </a:defRPr>
            </a:defPPr>
            <a:lvl1pPr>
              <a:defRPr sz="2550" b="1">
                <a:solidFill>
                  <a:srgbClr val="123F35"/>
                </a:solidFill>
              </a:defRPr>
            </a:lvl1pPr>
            <a:lvl2pPr>
              <a:defRPr sz="2550" b="1">
                <a:solidFill>
                  <a:srgbClr val="123F35"/>
                </a:solidFill>
              </a:defRPr>
            </a:lvl2pPr>
            <a:lvl3pPr>
              <a:defRPr sz="2550" b="1">
                <a:solidFill>
                  <a:srgbClr val="123F35"/>
                </a:solidFill>
              </a:defRPr>
            </a:lvl3pPr>
            <a:lvl4pPr>
              <a:defRPr sz="2550" b="1">
                <a:solidFill>
                  <a:srgbClr val="123F35"/>
                </a:solidFill>
              </a:defRPr>
            </a:lvl4pPr>
            <a:lvl5pPr>
              <a:defRPr sz="2550" b="1">
                <a:solidFill>
                  <a:srgbClr val="123F35"/>
                </a:solidFill>
              </a:defRPr>
            </a:lvl5pPr>
            <a:lvl6pPr>
              <a:defRPr sz="2550" b="1">
                <a:solidFill>
                  <a:srgbClr val="123F35"/>
                </a:solidFill>
              </a:defRPr>
            </a:lvl6pPr>
            <a:lvl7pPr>
              <a:defRPr sz="2550" b="1">
                <a:solidFill>
                  <a:srgbClr val="123F35"/>
                </a:solidFill>
              </a:defRPr>
            </a:lvl7pPr>
            <a:lvl8pPr>
              <a:defRPr sz="2550" b="1">
                <a:solidFill>
                  <a:srgbClr val="123F35"/>
                </a:solidFill>
              </a:defRPr>
            </a:lvl8pPr>
            <a:lvl9pPr>
              <a:defRPr sz="25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35"/>
                </a:solidFill>
              </a:defRPr>
            </a:pPr>
            <a:r>
              <a:rPr sz="2550" b="1">
                <a:solidFill>
                  <a:srgbClr val="123F35"/>
                </a:solidFill>
              </a:rPr>
              <a:t>Администратор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2DBBB-3B54-4FAA-9867-E88EBDEB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647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F35"/>
                </a:solidFill>
              </a:defRPr>
            </a:defPPr>
            <a:lvl1pPr>
              <a:defRPr sz="2175" b="0">
                <a:solidFill>
                  <a:srgbClr val="123F35"/>
                </a:solidFill>
              </a:defRPr>
            </a:lvl1pPr>
            <a:lvl2pPr>
              <a:defRPr sz="2175" b="0">
                <a:solidFill>
                  <a:srgbClr val="123F35"/>
                </a:solidFill>
              </a:defRPr>
            </a:lvl2pPr>
            <a:lvl3pPr>
              <a:defRPr sz="2175" b="0">
                <a:solidFill>
                  <a:srgbClr val="123F35"/>
                </a:solidFill>
              </a:defRPr>
            </a:lvl3pPr>
            <a:lvl4pPr>
              <a:defRPr sz="2175" b="0">
                <a:solidFill>
                  <a:srgbClr val="123F35"/>
                </a:solidFill>
              </a:defRPr>
            </a:lvl4pPr>
            <a:lvl5pPr>
              <a:defRPr sz="2175" b="0">
                <a:solidFill>
                  <a:srgbClr val="123F35"/>
                </a:solidFill>
              </a:defRPr>
            </a:lvl5pPr>
            <a:lvl6pPr>
              <a:defRPr sz="2175" b="0">
                <a:solidFill>
                  <a:srgbClr val="123F35"/>
                </a:solidFill>
              </a:defRPr>
            </a:lvl6pPr>
            <a:lvl7pPr>
              <a:defRPr sz="2175" b="0">
                <a:solidFill>
                  <a:srgbClr val="123F35"/>
                </a:solidFill>
              </a:defRPr>
            </a:lvl7pPr>
            <a:lvl8pPr>
              <a:defRPr sz="2175" b="0">
                <a:solidFill>
                  <a:srgbClr val="123F35"/>
                </a:solidFill>
              </a:defRPr>
            </a:lvl8pPr>
            <a:lvl9pPr>
              <a:defRPr sz="2175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F35"/>
                </a:solidFill>
              </a:defRPr>
            </a:pPr>
            <a:r>
              <a:rPr sz="2175" b="0">
                <a:solidFill>
                  <a:srgbClr val="123F35"/>
                </a:solidFill>
              </a:rPr>
              <a:t>Создаёт QR, скачивает PNG или печатает наклейку.</a:t>
            </a:r>
          </a:p>
          <a:p xmlns:a="http://schemas.openxmlformats.org/drawingml/2006/main">
            <a:pPr>
              <a:defRPr sz="2175" b="0">
                <a:solidFill>
                  <a:srgbClr val="123F35"/>
                </a:solidFill>
              </a:defRPr>
            </a:pPr>
            <a:r>
              <a:rPr sz="2175" b="0">
                <a:solidFill>
                  <a:srgbClr val="123F35"/>
                </a:solidFill>
              </a:rPr>
              <a:t>Связывает МФУ со сканером и назначает права.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A093D-9A20-4F39-823F-8588264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35"/>
                </a:solidFill>
              </a:defRPr>
            </a:defPPr>
            <a:lvl1pPr>
              <a:defRPr sz="2550" b="1">
                <a:solidFill>
                  <a:srgbClr val="123F35"/>
                </a:solidFill>
              </a:defRPr>
            </a:lvl1pPr>
            <a:lvl2pPr>
              <a:defRPr sz="2550" b="1">
                <a:solidFill>
                  <a:srgbClr val="123F35"/>
                </a:solidFill>
              </a:defRPr>
            </a:lvl2pPr>
            <a:lvl3pPr>
              <a:defRPr sz="2550" b="1">
                <a:solidFill>
                  <a:srgbClr val="123F35"/>
                </a:solidFill>
              </a:defRPr>
            </a:lvl3pPr>
            <a:lvl4pPr>
              <a:defRPr sz="2550" b="1">
                <a:solidFill>
                  <a:srgbClr val="123F35"/>
                </a:solidFill>
              </a:defRPr>
            </a:lvl4pPr>
            <a:lvl5pPr>
              <a:defRPr sz="2550" b="1">
                <a:solidFill>
                  <a:srgbClr val="123F35"/>
                </a:solidFill>
              </a:defRPr>
            </a:lvl5pPr>
            <a:lvl6pPr>
              <a:defRPr sz="2550" b="1">
                <a:solidFill>
                  <a:srgbClr val="123F35"/>
                </a:solidFill>
              </a:defRPr>
            </a:lvl6pPr>
            <a:lvl7pPr>
              <a:defRPr sz="2550" b="1">
                <a:solidFill>
                  <a:srgbClr val="123F35"/>
                </a:solidFill>
              </a:defRPr>
            </a:lvl7pPr>
            <a:lvl8pPr>
              <a:defRPr sz="2550" b="1">
                <a:solidFill>
                  <a:srgbClr val="123F35"/>
                </a:solidFill>
              </a:defRPr>
            </a:lvl8pPr>
            <a:lvl9pPr>
              <a:defRPr sz="25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35"/>
                </a:solidFill>
              </a:defRPr>
            </a:pPr>
            <a:r>
              <a:rPr sz="2550" b="1">
                <a:solidFill>
                  <a:srgbClr val="123F35"/>
                </a:solidFill>
              </a:rPr>
              <a:t>Пользователь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DD117-C6BA-4C82-8365-24CABC9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47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F35"/>
                </a:solidFill>
              </a:defRPr>
            </a:defPPr>
            <a:lvl1pPr>
              <a:defRPr sz="2175" b="0">
                <a:solidFill>
                  <a:srgbClr val="123F35"/>
                </a:solidFill>
              </a:defRPr>
            </a:lvl1pPr>
            <a:lvl2pPr>
              <a:defRPr sz="2175" b="0">
                <a:solidFill>
                  <a:srgbClr val="123F35"/>
                </a:solidFill>
              </a:defRPr>
            </a:lvl2pPr>
            <a:lvl3pPr>
              <a:defRPr sz="2175" b="0">
                <a:solidFill>
                  <a:srgbClr val="123F35"/>
                </a:solidFill>
              </a:defRPr>
            </a:lvl3pPr>
            <a:lvl4pPr>
              <a:defRPr sz="2175" b="0">
                <a:solidFill>
                  <a:srgbClr val="123F35"/>
                </a:solidFill>
              </a:defRPr>
            </a:lvl4pPr>
            <a:lvl5pPr>
              <a:defRPr sz="2175" b="0">
                <a:solidFill>
                  <a:srgbClr val="123F35"/>
                </a:solidFill>
              </a:defRPr>
            </a:lvl5pPr>
            <a:lvl6pPr>
              <a:defRPr sz="2175" b="0">
                <a:solidFill>
                  <a:srgbClr val="123F35"/>
                </a:solidFill>
              </a:defRPr>
            </a:lvl6pPr>
            <a:lvl7pPr>
              <a:defRPr sz="2175" b="0">
                <a:solidFill>
                  <a:srgbClr val="123F35"/>
                </a:solidFill>
              </a:defRPr>
            </a:lvl7pPr>
            <a:lvl8pPr>
              <a:defRPr sz="2175" b="0">
                <a:solidFill>
                  <a:srgbClr val="123F35"/>
                </a:solidFill>
              </a:defRPr>
            </a:lvl8pPr>
            <a:lvl9pPr>
              <a:defRPr sz="2175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F35"/>
                </a:solidFill>
              </a:defRPr>
            </a:pPr>
            <a:r>
              <a:rPr sz="2175" b="0">
                <a:solidFill>
                  <a:srgbClr val="123F35"/>
                </a:solidFill>
              </a:rPr>
              <a:t>Сканирует QR → входит → выбирает действие.</a:t>
            </a:r>
          </a:p>
          <a:p xmlns:a="http://schemas.openxmlformats.org/drawingml/2006/main">
            <a:pPr>
              <a:defRPr sz="2175" b="0">
                <a:solidFill>
                  <a:srgbClr val="123F35"/>
                </a:solidFill>
              </a:defRPr>
            </a:pPr>
            <a:r>
              <a:rPr sz="2175" b="0">
                <a:solidFill>
                  <a:srgbClr val="123F35"/>
                </a:solidFill>
              </a:rPr>
              <a:t>Печатает свою очередь или запускает личный скан.</a:t>
            </a:r>
          </a:p>
          <a:p xmlns:a="http://schemas.openxmlformats.org/drawingml/2006/main">
            <a:pPr>
              <a:defRPr sz="2175" b="0">
                <a:solidFill>
                  <a:srgbClr val="123F35"/>
                </a:solidFill>
              </a:defRPr>
            </a:pPr>
            <a:r>
              <a:rPr sz="2175" b="0">
                <a:solidFill>
                  <a:srgbClr val="123F35"/>
                </a:solidFill>
              </a:rPr>
              <a:t>Доступ определяется ACL, а не наличием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905B0-B13E-4351-B61D-2FA74DC3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5436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23F35"/>
                </a:solidFill>
              </a:defRPr>
            </a:defPPr>
            <a:lvl1pPr>
              <a:defRPr sz="1350" b="0">
                <a:solidFill>
                  <a:srgbClr val="123F35"/>
                </a:solidFill>
              </a:defRPr>
            </a:lvl1pPr>
            <a:lvl2pPr>
              <a:defRPr sz="1350" b="0">
                <a:solidFill>
                  <a:srgbClr val="123F35"/>
                </a:solidFill>
              </a:defRPr>
            </a:lvl2pPr>
            <a:lvl3pPr>
              <a:defRPr sz="1350" b="0">
                <a:solidFill>
                  <a:srgbClr val="123F35"/>
                </a:solidFill>
              </a:defRPr>
            </a:lvl3pPr>
            <a:lvl4pPr>
              <a:defRPr sz="1350" b="0">
                <a:solidFill>
                  <a:srgbClr val="123F35"/>
                </a:solidFill>
              </a:defRPr>
            </a:lvl4pPr>
            <a:lvl5pPr>
              <a:defRPr sz="1350" b="0">
                <a:solidFill>
                  <a:srgbClr val="123F35"/>
                </a:solidFill>
              </a:defRPr>
            </a:lvl5pPr>
            <a:lvl6pPr>
              <a:defRPr sz="1350" b="0">
                <a:solidFill>
                  <a:srgbClr val="123F35"/>
                </a:solidFill>
              </a:defRPr>
            </a:lvl6pPr>
            <a:lvl7pPr>
              <a:defRPr sz="1350" b="0">
                <a:solidFill>
                  <a:srgbClr val="123F35"/>
                </a:solidFill>
              </a:defRPr>
            </a:lvl7pPr>
            <a:lvl8pPr>
              <a:defRPr sz="1350" b="0">
                <a:solidFill>
                  <a:srgbClr val="123F35"/>
                </a:solidFill>
              </a:defRPr>
            </a:lvl8pPr>
            <a:lvl9pPr>
              <a:defRPr sz="1350" b="0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23F35"/>
                </a:solidFill>
              </a:defRPr>
            </a:pPr>
            <a:r>
              <a:rPr sz="1350" b="0">
                <a:solidFill>
                  <a:srgbClr val="123F35"/>
                </a:solidFill>
              </a:rPr>
              <a:t>GoPrint  /  08</a:t>
            </a:r>
          </a:p>
        </p:txBody>
      </p:sp>
    </p:spTree>
    <p:extLst>
      <p:ext uri="{BB962C8B-B14F-4D97-AF65-F5344CB8AC3E}">
        <p14:creationId xmlns:p14="http://schemas.microsoft.com/office/powerpoint/2010/main" val="49292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491EF-0D1B-4479-9DFF-0EE5B701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PPD, фильтры и Катюша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214B7-4DA4-4EA0-A64D-169A507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14A49-331D-425B-91F7-07054BEA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Каталог OpenPrinting и официальные пакеты Катюша.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C39B0-326B-4276-8B6F-49420EDB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Выбранный PPD реально участвует в преобразовании документа.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C5C97-A647-42E5-B15D-8D1A3121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Системные фильтры устанавливаются отдельно для архитектуры сервера.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68271-1A87-419B-995D-B2215E66A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58cd92dfb4532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77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90F33-6B74-4581-AA48-FA04E23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Доменный вход и Windows 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4E471-87EE-4C31-B5A2-5F099DC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A4F00-A7E5-479C-AE7C-C68D6F9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AD / Samba AD через LDAPS или обязательный StartTLS.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03EA9-21B6-4194-972B-CE7D12D0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Kerberos / Negotiate с текущей доменной сессией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F1ABF-6404-4878-840D-BFF0E35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Проверка и установка keytab из интерфейса администратора.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D56D9-EFD6-41BC-8CA2-BDAA2D7B5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a7d33fcd34610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4623D-676E-4BEA-B328-12EE0C20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Нужны корректные DNS, SPN, сертификат и синхронизация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877814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564B7-D115-45ED-B8F8-81499DB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Сканирование и Scan Anywhere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5F604-B735-4CA7-9CC5-A57BBEF9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ABDC9-8B4B-41F6-A481-2F3A3DDF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Запуск eSCL / AirScan из браузера: стекло или автоподатчик.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C4805-0DD1-433C-9E7C-A3E4179B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Приём PDF, JPEG и PNG, отправленных с панели МФУ.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8FBD2-0805-4F32-BDC0-366D45A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Готовый документ доступен владельцу в личных сканах.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CC0BE-4F04-4877-985F-D152710CD6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ea3a54db54b32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45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CC9F6-B66A-4BB0-8322-2D98A5C9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Назначения WebDAV / FTP / FTPS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0A713-E084-48E8-9D8D-8902B28E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A9585-0754-4B34-8352-0EE7C784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Каждое назначение закреплено за пользователем.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72177-144A-4AF6-A3D0-E27EC38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Отдельный пароль МФУ не раскрывает доменный пароль.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5E453-9F6F-4232-B26B-1AF2A68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Смена получателя отзывает старые учётные данные.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F270-F6CA-4F16-BC7D-3604699D1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74ac8d4064a05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8D4FB-DFA3-424A-88DE-2D3C5BC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Общая кнопка на МФУ сама не определяет пользователя у панели.</a:t>
            </a:r>
          </a:p>
        </p:txBody>
      </p:sp>
    </p:spTree>
    <p:extLst>
      <p:ext uri="{BB962C8B-B14F-4D97-AF65-F5344CB8AC3E}">
        <p14:creationId xmlns:p14="http://schemas.microsoft.com/office/powerpoint/2010/main" val="185518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5D0F0-5AEA-496B-9815-1530704A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Доставка сканов по почте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A3A48-A190-4B10-9DE1-672F3BFE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7C165-9930-4614-87F2-5E2B432A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Пользователь выбирает получателя и включает своё правило.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4E79E-915B-4F82-8877-A66325E2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Формат и максимальный размер ограничивают автоматическую отправку.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37408-41A7-47E9-9FF0-D2C9694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SMTP-сервер и разрешённые домены задаёт администратор.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A92DD-5E1E-4839-8B9F-B2691A708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f5e693d90440f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318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7D1B8-B0EF-42C5-84E7-BBB428DA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Печать по email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9F66B-79A6-48AE-ABA0-27D45B1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4C98B-21EE-46DE-B7FA-10662F92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Доверенный почтовый шлюз передаёт вложения в GoPrint.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D0961-64DE-4E6F-8040-CF67139E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LDAP mail связывает отправителя с доменной учётной записью.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80821-C409-4363-B80A-ACDD8EEB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Вложения проходят ту же очередь и политики печати.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2A52B-29BB-4A4D-831F-E564CCF6D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f04b1031545cf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02585-BAA0-48F3-84D7-4DEF6846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Доверие к отправителю обеспечивает MTA, а не поле From письма.</a:t>
            </a:r>
          </a:p>
        </p:txBody>
      </p:sp>
    </p:spTree>
    <p:extLst>
      <p:ext uri="{BB962C8B-B14F-4D97-AF65-F5344CB8AC3E}">
        <p14:creationId xmlns:p14="http://schemas.microsoft.com/office/powerpoint/2010/main" val="518403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1AE66-DB7E-4A94-A127-93B5B4BE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Антивирусная проверка документов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F466C-45A1-42FF-AA0B-0A283FEE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8936D-E2F3-4789-9351-984C8CB7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ClamAV INSTREAM или ICAP RESPMOD.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8A269-18F9-4F6C-8656-BBBF41DE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Проверка перед публикацией скана и перед обработкой печати.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BEE62-CF9E-4D01-9786-61BC887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При включённой политике ошибка проверки блокирует документ.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6D462-116F-423C-98D9-57108D39A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bb5f034dd49fd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149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9409C-F362-46B4-AB87-797A7E2B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Watermark и события для SIEM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37C7F-21BD-41E8-8E34-F55B58B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EA0AE-853F-45D2-B741-0587A7E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Обязательная маркировка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EFBFF-0989-4755-A15A-9300236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Экспорт событий по TCP / TLS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354A7-8012-449D-85A4-BC471E712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c087ae07e4e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533650"/>
            <a:ext cx="5095875" cy="2381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390B2-7D41-4D1C-B113-6DC94F344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2b9bbba9340c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72250" y="2533650"/>
            <a:ext cx="4857750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31C51-15E0-45CA-9532-B192B7AC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6"/>
                </a:solidFill>
              </a:defRPr>
            </a:defPPr>
            <a:lvl1pPr>
              <a:defRPr sz="2025" b="0">
                <a:solidFill>
                  <a:srgbClr val="203D36"/>
                </a:solidFill>
              </a:defRPr>
            </a:lvl1pPr>
            <a:lvl2pPr>
              <a:defRPr sz="2025" b="0">
                <a:solidFill>
                  <a:srgbClr val="203D36"/>
                </a:solidFill>
              </a:defRPr>
            </a:lvl2pPr>
            <a:lvl3pPr>
              <a:defRPr sz="2025" b="0">
                <a:solidFill>
                  <a:srgbClr val="203D36"/>
                </a:solidFill>
              </a:defRPr>
            </a:lvl3pPr>
            <a:lvl4pPr>
              <a:defRPr sz="2025" b="0">
                <a:solidFill>
                  <a:srgbClr val="203D36"/>
                </a:solidFill>
              </a:defRPr>
            </a:lvl4pPr>
            <a:lvl5pPr>
              <a:defRPr sz="2025" b="0">
                <a:solidFill>
                  <a:srgbClr val="203D36"/>
                </a:solidFill>
              </a:defRPr>
            </a:lvl5pPr>
            <a:lvl6pPr>
              <a:defRPr sz="2025" b="0">
                <a:solidFill>
                  <a:srgbClr val="203D36"/>
                </a:solidFill>
              </a:defRPr>
            </a:lvl6pPr>
            <a:lvl7pPr>
              <a:defRPr sz="2025" b="0">
                <a:solidFill>
                  <a:srgbClr val="203D36"/>
                </a:solidFill>
              </a:defRPr>
            </a:lvl7pPr>
            <a:lvl8pPr>
              <a:defRPr sz="2025" b="0">
                <a:solidFill>
                  <a:srgbClr val="203D36"/>
                </a:solidFill>
              </a:defRPr>
            </a:lvl8pPr>
            <a:lvl9pPr>
              <a:defRPr sz="202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6"/>
                </a:solidFill>
              </a:defRPr>
            </a:pPr>
            <a:r>
              <a:rPr sz="2025" b="0">
                <a:solidFill>
                  <a:srgbClr val="203D36"/>
                </a:solidFill>
              </a:rPr>
              <a:t>Пользователь, задание и дата</a:t>
            </a:r>
          </a:p>
          <a:p xmlns:a="http://schemas.openxmlformats.org/drawingml/2006/main">
            <a:pPr>
              <a:defRPr sz="2025" b="0">
                <a:solidFill>
                  <a:srgbClr val="203D36"/>
                </a:solidFill>
              </a:defRPr>
            </a:pPr>
            <a:r>
              <a:rPr sz="2025" b="0">
                <a:solidFill>
                  <a:srgbClr val="203D36"/>
                </a:solidFill>
              </a:rPr>
              <a:t>в тексте watermark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E5C34-61F6-45F8-9F16-A929D101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D36"/>
                </a:solidFill>
              </a:defRPr>
            </a:defPPr>
            <a:lvl1pPr>
              <a:defRPr sz="2025" b="0">
                <a:solidFill>
                  <a:srgbClr val="203D36"/>
                </a:solidFill>
              </a:defRPr>
            </a:lvl1pPr>
            <a:lvl2pPr>
              <a:defRPr sz="2025" b="0">
                <a:solidFill>
                  <a:srgbClr val="203D36"/>
                </a:solidFill>
              </a:defRPr>
            </a:lvl2pPr>
            <a:lvl3pPr>
              <a:defRPr sz="2025" b="0">
                <a:solidFill>
                  <a:srgbClr val="203D36"/>
                </a:solidFill>
              </a:defRPr>
            </a:lvl3pPr>
            <a:lvl4pPr>
              <a:defRPr sz="2025" b="0">
                <a:solidFill>
                  <a:srgbClr val="203D36"/>
                </a:solidFill>
              </a:defRPr>
            </a:lvl4pPr>
            <a:lvl5pPr>
              <a:defRPr sz="2025" b="0">
                <a:solidFill>
                  <a:srgbClr val="203D36"/>
                </a:solidFill>
              </a:defRPr>
            </a:lvl5pPr>
            <a:lvl6pPr>
              <a:defRPr sz="2025" b="0">
                <a:solidFill>
                  <a:srgbClr val="203D36"/>
                </a:solidFill>
              </a:defRPr>
            </a:lvl6pPr>
            <a:lvl7pPr>
              <a:defRPr sz="2025" b="0">
                <a:solidFill>
                  <a:srgbClr val="203D36"/>
                </a:solidFill>
              </a:defRPr>
            </a:lvl7pPr>
            <a:lvl8pPr>
              <a:defRPr sz="2025" b="0">
                <a:solidFill>
                  <a:srgbClr val="203D36"/>
                </a:solidFill>
              </a:defRPr>
            </a:lvl8pPr>
            <a:lvl9pPr>
              <a:defRPr sz="202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D36"/>
                </a:solidFill>
              </a:defRPr>
            </a:pPr>
            <a:r>
              <a:rPr sz="2025" b="0">
                <a:solidFill>
                  <a:srgbClr val="203D36"/>
                </a:solidFill>
              </a:rPr>
              <a:t>Syslog RFC 5424</a:t>
            </a:r>
          </a:p>
          <a:p xmlns:a="http://schemas.openxmlformats.org/drawingml/2006/main">
            <a:pPr>
              <a:defRPr sz="2025" b="0">
                <a:solidFill>
                  <a:srgbClr val="203D36"/>
                </a:solidFill>
              </a:defRPr>
            </a:pPr>
            <a:r>
              <a:rPr sz="2025" b="0">
                <a:solidFill>
                  <a:srgbClr val="203D36"/>
                </a:solidFill>
              </a:rPr>
              <a:t>Состояния без содержимого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6724367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681AE-D0DE-451B-9522-3D5F1CA7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Аппаратные счётчики и расходники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5EB91-7C87-40C0-A67F-9E33965C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ACC5E-86AD-43B2-A8D1-2856D0DE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Показатели IPP/IPPS и стандартного SNMP Printer MIB.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9A920-5D58-44D6-8FAB-B4C8EC2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Счётчики сохраняют единицы: стороны и листы не смешиваются.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A8F74-3C35-4E98-8CA1-4DB50DE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Неизвестный уровень и потеря связи видны отдельно.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7D935-C635-4671-B6E9-DD7BE1813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073c9315a486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000" y="1828800"/>
            <a:ext cx="6191250" cy="3952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1A80B-B77D-41D0-BFC8-3EB21BF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Объём данных зависит от того, что публикует устройство.</a:t>
            </a:r>
          </a:p>
        </p:txBody>
      </p:sp>
    </p:spTree>
    <p:extLst>
      <p:ext uri="{BB962C8B-B14F-4D97-AF65-F5344CB8AC3E}">
        <p14:creationId xmlns:p14="http://schemas.microsoft.com/office/powerpoint/2010/main" val="4932580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46B50-5085-4B7A-B295-FD930E7E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Уведомления о расходниках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85CE2-7FAF-49AF-B6DD-94A733D9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5C7D8-BF45-4D78-8410-BC8D95E6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Пороги остатка и заполнения отработки настраиваются.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1F1E6-C1D3-4605-BFA7-A09F99F3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Предупреждения видны в интерфейсе и отправляются администраторам.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DECC6-DBE0-43E0-90BE-1BEDDBE9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Подтверждение, напоминания и восстановление сохраняются в БД.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5E11A-1656-4CFD-BA43-7D09D744A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7db752a9044de"/>
          <a:stretch xmlns:a="http://schemas.openxmlformats.org/drawingml/2006/main"/>
        </p:blipFill>
        <p:spPr>
          <a:xfrm xmlns:a="http://schemas.openxmlformats.org/drawingml/2006/main">
            <a:off x="5334000" y="2063948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26C03-1754-485F-904F-CE979D6D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76925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7267"/>
                </a:solidFill>
              </a:defRPr>
            </a:defPPr>
            <a:lvl1pPr>
              <a:defRPr sz="1650" b="0">
                <a:solidFill>
                  <a:srgbClr val="587267"/>
                </a:solidFill>
              </a:defRPr>
            </a:lvl1pPr>
            <a:lvl2pPr>
              <a:defRPr sz="1650" b="0">
                <a:solidFill>
                  <a:srgbClr val="587267"/>
                </a:solidFill>
              </a:defRPr>
            </a:lvl2pPr>
            <a:lvl3pPr>
              <a:defRPr sz="1650" b="0">
                <a:solidFill>
                  <a:srgbClr val="587267"/>
                </a:solidFill>
              </a:defRPr>
            </a:lvl3pPr>
            <a:lvl4pPr>
              <a:defRPr sz="1650" b="0">
                <a:solidFill>
                  <a:srgbClr val="587267"/>
                </a:solidFill>
              </a:defRPr>
            </a:lvl4pPr>
            <a:lvl5pPr>
              <a:defRPr sz="1650" b="0">
                <a:solidFill>
                  <a:srgbClr val="587267"/>
                </a:solidFill>
              </a:defRPr>
            </a:lvl5pPr>
            <a:lvl6pPr>
              <a:defRPr sz="1650" b="0">
                <a:solidFill>
                  <a:srgbClr val="587267"/>
                </a:solidFill>
              </a:defRPr>
            </a:lvl6pPr>
            <a:lvl7pPr>
              <a:defRPr sz="1650" b="0">
                <a:solidFill>
                  <a:srgbClr val="587267"/>
                </a:solidFill>
              </a:defRPr>
            </a:lvl7pPr>
            <a:lvl8pPr>
              <a:defRPr sz="1650" b="0">
                <a:solidFill>
                  <a:srgbClr val="587267"/>
                </a:solidFill>
              </a:defRPr>
            </a:lvl8pPr>
            <a:lvl9pPr>
              <a:defRPr sz="16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267"/>
                </a:solidFill>
              </a:defRPr>
            </a:pPr>
            <a:r>
              <a:rPr sz="1650" b="0">
                <a:solidFill>
                  <a:srgbClr val="587267"/>
                </a:solidFill>
              </a:rPr>
              <a:t>По умолчанию: предупреждение 20%, критический остаток 5%.</a:t>
            </a:r>
          </a:p>
        </p:txBody>
      </p:sp>
    </p:spTree>
    <p:extLst>
      <p:ext uri="{BB962C8B-B14F-4D97-AF65-F5344CB8AC3E}">
        <p14:creationId xmlns:p14="http://schemas.microsoft.com/office/powerpoint/2010/main" val="916834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4EAE7-145E-4BBC-AFE7-1D3FFAC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Развёртывание и хранение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A2166-9C81-4FFC-AA5A-5EF237B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1C191-21E3-45F3-934C-E45355ED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35"/>
                </a:solidFill>
              </a:defRPr>
            </a:defPPr>
            <a:lvl1pPr>
              <a:defRPr sz="3225" b="1">
                <a:solidFill>
                  <a:srgbClr val="123F35"/>
                </a:solidFill>
              </a:defRPr>
            </a:lvl1pPr>
            <a:lvl2pPr>
              <a:defRPr sz="3225" b="1">
                <a:solidFill>
                  <a:srgbClr val="123F35"/>
                </a:solidFill>
              </a:defRPr>
            </a:lvl2pPr>
            <a:lvl3pPr>
              <a:defRPr sz="3225" b="1">
                <a:solidFill>
                  <a:srgbClr val="123F35"/>
                </a:solidFill>
              </a:defRPr>
            </a:lvl3pPr>
            <a:lvl4pPr>
              <a:defRPr sz="3225" b="1">
                <a:solidFill>
                  <a:srgbClr val="123F35"/>
                </a:solidFill>
              </a:defRPr>
            </a:lvl4pPr>
            <a:lvl5pPr>
              <a:defRPr sz="3225" b="1">
                <a:solidFill>
                  <a:srgbClr val="123F35"/>
                </a:solidFill>
              </a:defRPr>
            </a:lvl5pPr>
            <a:lvl6pPr>
              <a:defRPr sz="3225" b="1">
                <a:solidFill>
                  <a:srgbClr val="123F35"/>
                </a:solidFill>
              </a:defRPr>
            </a:lvl6pPr>
            <a:lvl7pPr>
              <a:defRPr sz="3225" b="1">
                <a:solidFill>
                  <a:srgbClr val="123F35"/>
                </a:solidFill>
              </a:defRPr>
            </a:lvl7pPr>
            <a:lvl8pPr>
              <a:defRPr sz="3225" b="1">
                <a:solidFill>
                  <a:srgbClr val="123F35"/>
                </a:solidFill>
              </a:defRPr>
            </a:lvl8pPr>
            <a:lvl9pPr>
              <a:defRPr sz="3225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35"/>
                </a:solidFill>
              </a:defRPr>
            </a:pPr>
            <a:r>
              <a:rPr sz="3225" b="1">
                <a:solidFill>
                  <a:srgbClr val="123F35"/>
                </a:solidFill>
              </a:rPr>
              <a:t>Linux amd64 / arm64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2D307-E0D1-43E3-A3B8-09EDFA5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D36"/>
                </a:solidFill>
              </a:defRPr>
            </a:defPPr>
            <a:lvl1pPr>
              <a:defRPr sz="2400" b="0">
                <a:solidFill>
                  <a:srgbClr val="203D36"/>
                </a:solidFill>
              </a:defRPr>
            </a:lvl1pPr>
            <a:lvl2pPr>
              <a:defRPr sz="2400" b="0">
                <a:solidFill>
                  <a:srgbClr val="203D36"/>
                </a:solidFill>
              </a:defRPr>
            </a:lvl2pPr>
            <a:lvl3pPr>
              <a:defRPr sz="2400" b="0">
                <a:solidFill>
                  <a:srgbClr val="203D36"/>
                </a:solidFill>
              </a:defRPr>
            </a:lvl3pPr>
            <a:lvl4pPr>
              <a:defRPr sz="2400" b="0">
                <a:solidFill>
                  <a:srgbClr val="203D36"/>
                </a:solidFill>
              </a:defRPr>
            </a:lvl4pPr>
            <a:lvl5pPr>
              <a:defRPr sz="2400" b="0">
                <a:solidFill>
                  <a:srgbClr val="203D36"/>
                </a:solidFill>
              </a:defRPr>
            </a:lvl5pPr>
            <a:lvl6pPr>
              <a:defRPr sz="2400" b="0">
                <a:solidFill>
                  <a:srgbClr val="203D36"/>
                </a:solidFill>
              </a:defRPr>
            </a:lvl6pPr>
            <a:lvl7pPr>
              <a:defRPr sz="2400" b="0">
                <a:solidFill>
                  <a:srgbClr val="203D36"/>
                </a:solidFill>
              </a:defRPr>
            </a:lvl7pPr>
            <a:lvl8pPr>
              <a:defRPr sz="2400" b="0">
                <a:solidFill>
                  <a:srgbClr val="203D36"/>
                </a:solidFill>
              </a:defRPr>
            </a:lvl8pPr>
            <a:lvl9pPr>
              <a:defRPr sz="2400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D36"/>
                </a:solidFill>
              </a:defRPr>
            </a:pPr>
            <a:r>
              <a:rPr sz="2400" b="0">
                <a:solidFill>
                  <a:srgbClr val="203D36"/>
                </a:solidFill>
              </a:rPr>
              <a:t>Пять бинарников · systemd · HTTPS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0E376-1F68-41E7-946A-A3109C3F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42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3D36"/>
                </a:solidFill>
              </a:defRPr>
            </a:defPPr>
            <a:lvl1pPr>
              <a:defRPr sz="2550" b="1">
                <a:solidFill>
                  <a:srgbClr val="203D36"/>
                </a:solidFill>
              </a:defRPr>
            </a:lvl1pPr>
            <a:lvl2pPr>
              <a:defRPr sz="2550" b="1">
                <a:solidFill>
                  <a:srgbClr val="203D36"/>
                </a:solidFill>
              </a:defRPr>
            </a:lvl2pPr>
            <a:lvl3pPr>
              <a:defRPr sz="2550" b="1">
                <a:solidFill>
                  <a:srgbClr val="203D36"/>
                </a:solidFill>
              </a:defRPr>
            </a:lvl3pPr>
            <a:lvl4pPr>
              <a:defRPr sz="2550" b="1">
                <a:solidFill>
                  <a:srgbClr val="203D36"/>
                </a:solidFill>
              </a:defRPr>
            </a:lvl4pPr>
            <a:lvl5pPr>
              <a:defRPr sz="2550" b="1">
                <a:solidFill>
                  <a:srgbClr val="203D36"/>
                </a:solidFill>
              </a:defRPr>
            </a:lvl5pPr>
            <a:lvl6pPr>
              <a:defRPr sz="2550" b="1">
                <a:solidFill>
                  <a:srgbClr val="203D36"/>
                </a:solidFill>
              </a:defRPr>
            </a:lvl6pPr>
            <a:lvl7pPr>
              <a:defRPr sz="2550" b="1">
                <a:solidFill>
                  <a:srgbClr val="203D36"/>
                </a:solidFill>
              </a:defRPr>
            </a:lvl7pPr>
            <a:lvl8pPr>
              <a:defRPr sz="2550" b="1">
                <a:solidFill>
                  <a:srgbClr val="203D36"/>
                </a:solidFill>
              </a:defRPr>
            </a:lvl8pPr>
            <a:lvl9pPr>
              <a:defRPr sz="2550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03D36"/>
                </a:solidFill>
              </a:defRPr>
            </a:pPr>
            <a:r>
              <a:rPr sz="2550" b="1">
                <a:solidFill>
                  <a:srgbClr val="203D36"/>
                </a:solidFill>
              </a:rPr>
              <a:t>SQLite по умолчанию</a:t>
            </a:r>
          </a:p>
          <a:p xmlns:a="http://schemas.openxmlformats.org/drawingml/2006/main">
            <a:pPr>
              <a:defRPr sz="2550" b="1">
                <a:solidFill>
                  <a:srgbClr val="203D36"/>
                </a:solidFill>
              </a:defRPr>
            </a:pPr>
            <a:r>
              <a:rPr sz="2550" b="1">
                <a:solidFill>
                  <a:srgbClr val="203D36"/>
                </a:solidFill>
              </a:rPr>
              <a:t>PostgreSQL для крупных установок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4A989-ECA6-4887-AB49-51C37B79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D36"/>
                </a:solidFill>
              </a:defRPr>
            </a:defPPr>
            <a:lvl1pPr>
              <a:defRPr sz="2325" b="0">
                <a:solidFill>
                  <a:srgbClr val="203D36"/>
                </a:solidFill>
              </a:defRPr>
            </a:lvl1pPr>
            <a:lvl2pPr>
              <a:defRPr sz="2325" b="0">
                <a:solidFill>
                  <a:srgbClr val="203D36"/>
                </a:solidFill>
              </a:defRPr>
            </a:lvl2pPr>
            <a:lvl3pPr>
              <a:defRPr sz="2325" b="0">
                <a:solidFill>
                  <a:srgbClr val="203D36"/>
                </a:solidFill>
              </a:defRPr>
            </a:lvl3pPr>
            <a:lvl4pPr>
              <a:defRPr sz="2325" b="0">
                <a:solidFill>
                  <a:srgbClr val="203D36"/>
                </a:solidFill>
              </a:defRPr>
            </a:lvl4pPr>
            <a:lvl5pPr>
              <a:defRPr sz="2325" b="0">
                <a:solidFill>
                  <a:srgbClr val="203D36"/>
                </a:solidFill>
              </a:defRPr>
            </a:lvl5pPr>
            <a:lvl6pPr>
              <a:defRPr sz="2325" b="0">
                <a:solidFill>
                  <a:srgbClr val="203D36"/>
                </a:solidFill>
              </a:defRPr>
            </a:lvl6pPr>
            <a:lvl7pPr>
              <a:defRPr sz="2325" b="0">
                <a:solidFill>
                  <a:srgbClr val="203D36"/>
                </a:solidFill>
              </a:defRPr>
            </a:lvl7pPr>
            <a:lvl8pPr>
              <a:defRPr sz="2325" b="0">
                <a:solidFill>
                  <a:srgbClr val="203D36"/>
                </a:solidFill>
              </a:defRPr>
            </a:lvl8pPr>
            <a:lvl9pPr>
              <a:defRPr sz="232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3D36"/>
                </a:solidFill>
              </a:defRPr>
            </a:pPr>
            <a:r>
              <a:rPr sz="2325" b="0">
                <a:solidFill>
                  <a:srgbClr val="203D36"/>
                </a:solidFill>
              </a:rPr>
              <a:t>Офлайн-миграция</a:t>
            </a:r>
          </a:p>
          <a:p xmlns:a="http://schemas.openxmlformats.org/drawingml/2006/main">
            <a:pPr>
              <a:defRPr sz="2325" b="0">
                <a:solidFill>
                  <a:srgbClr val="203D36"/>
                </a:solidFill>
              </a:defRPr>
            </a:pPr>
            <a:r>
              <a:rPr sz="2325" b="0">
                <a:solidFill>
                  <a:srgbClr val="203D36"/>
                </a:solidFill>
              </a:rPr>
              <a:t>Пробный запуск и сверка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4A3F1-0A6A-4C29-8D4C-FFCD0CAB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87267"/>
                </a:solidFill>
              </a:defRPr>
            </a:defPPr>
            <a:lvl1pPr>
              <a:defRPr sz="2025" b="0">
                <a:solidFill>
                  <a:srgbClr val="587267"/>
                </a:solidFill>
              </a:defRPr>
            </a:lvl1pPr>
            <a:lvl2pPr>
              <a:defRPr sz="2025" b="0">
                <a:solidFill>
                  <a:srgbClr val="587267"/>
                </a:solidFill>
              </a:defRPr>
            </a:lvl2pPr>
            <a:lvl3pPr>
              <a:defRPr sz="2025" b="0">
                <a:solidFill>
                  <a:srgbClr val="587267"/>
                </a:solidFill>
              </a:defRPr>
            </a:lvl3pPr>
            <a:lvl4pPr>
              <a:defRPr sz="2025" b="0">
                <a:solidFill>
                  <a:srgbClr val="587267"/>
                </a:solidFill>
              </a:defRPr>
            </a:lvl4pPr>
            <a:lvl5pPr>
              <a:defRPr sz="2025" b="0">
                <a:solidFill>
                  <a:srgbClr val="587267"/>
                </a:solidFill>
              </a:defRPr>
            </a:lvl5pPr>
            <a:lvl6pPr>
              <a:defRPr sz="2025" b="0">
                <a:solidFill>
                  <a:srgbClr val="587267"/>
                </a:solidFill>
              </a:defRPr>
            </a:lvl6pPr>
            <a:lvl7pPr>
              <a:defRPr sz="2025" b="0">
                <a:solidFill>
                  <a:srgbClr val="587267"/>
                </a:solidFill>
              </a:defRPr>
            </a:lvl7pPr>
            <a:lvl8pPr>
              <a:defRPr sz="2025" b="0">
                <a:solidFill>
                  <a:srgbClr val="587267"/>
                </a:solidFill>
              </a:defRPr>
            </a:lvl8pPr>
            <a:lvl9pPr>
              <a:defRPr sz="2025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87267"/>
                </a:solidFill>
              </a:defRPr>
            </a:pPr>
            <a:r>
              <a:rPr sz="2025" b="0">
                <a:solidFill>
                  <a:srgbClr val="587267"/>
                </a:solidFill>
              </a:rPr>
              <a:t>Документы хранятся в файловом каталоге; резервируется вся установка.</a:t>
            </a:r>
          </a:p>
        </p:txBody>
      </p:sp>
    </p:spTree>
    <p:extLst>
      <p:ext uri="{BB962C8B-B14F-4D97-AF65-F5344CB8AC3E}">
        <p14:creationId xmlns:p14="http://schemas.microsoft.com/office/powerpoint/2010/main" val="304012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D652F-B145-4F3B-9D51-640FC748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Пилотное 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D25BB-71A4-4167-A0F5-77AEBA4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18AD8-D143-46C5-9CFF-551BA3E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F35"/>
                </a:solidFill>
              </a:defRPr>
            </a:defPPr>
            <a:lvl1pPr>
              <a:defRPr sz="3150" b="1">
                <a:solidFill>
                  <a:srgbClr val="123F35"/>
                </a:solidFill>
              </a:defRPr>
            </a:lvl1pPr>
            <a:lvl2pPr>
              <a:defRPr sz="3150" b="1">
                <a:solidFill>
                  <a:srgbClr val="123F35"/>
                </a:solidFill>
              </a:defRPr>
            </a:lvl2pPr>
            <a:lvl3pPr>
              <a:defRPr sz="3150" b="1">
                <a:solidFill>
                  <a:srgbClr val="123F35"/>
                </a:solidFill>
              </a:defRPr>
            </a:lvl3pPr>
            <a:lvl4pPr>
              <a:defRPr sz="3150" b="1">
                <a:solidFill>
                  <a:srgbClr val="123F35"/>
                </a:solidFill>
              </a:defRPr>
            </a:lvl4pPr>
            <a:lvl5pPr>
              <a:defRPr sz="3150" b="1">
                <a:solidFill>
                  <a:srgbClr val="123F35"/>
                </a:solidFill>
              </a:defRPr>
            </a:lvl5pPr>
            <a:lvl6pPr>
              <a:defRPr sz="3150" b="1">
                <a:solidFill>
                  <a:srgbClr val="123F35"/>
                </a:solidFill>
              </a:defRPr>
            </a:lvl6pPr>
            <a:lvl7pPr>
              <a:defRPr sz="3150" b="1">
                <a:solidFill>
                  <a:srgbClr val="123F35"/>
                </a:solidFill>
              </a:defRPr>
            </a:lvl7pPr>
            <a:lvl8pPr>
              <a:defRPr sz="3150" b="1">
                <a:solidFill>
                  <a:srgbClr val="123F35"/>
                </a:solidFill>
              </a:defRPr>
            </a:lvl8pPr>
            <a:lvl9pPr>
              <a:defRPr sz="31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F35"/>
                </a:solidFill>
              </a:defRPr>
            </a:pPr>
            <a:r>
              <a:rPr sz="3150" b="1">
                <a:solidFill>
                  <a:srgbClr val="123F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9DEC6-614A-4781-8619-5F2A77D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Устройства и домен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91202-019A-4A93-9E89-69BDA15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66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87267"/>
                </a:solidFill>
              </a:defRPr>
            </a:defPPr>
            <a:lvl1pPr>
              <a:defRPr sz="1950" b="0">
                <a:solidFill>
                  <a:srgbClr val="587267"/>
                </a:solidFill>
              </a:defRPr>
            </a:lvl1pPr>
            <a:lvl2pPr>
              <a:defRPr sz="1950" b="0">
                <a:solidFill>
                  <a:srgbClr val="587267"/>
                </a:solidFill>
              </a:defRPr>
            </a:lvl2pPr>
            <a:lvl3pPr>
              <a:defRPr sz="1950" b="0">
                <a:solidFill>
                  <a:srgbClr val="587267"/>
                </a:solidFill>
              </a:defRPr>
            </a:lvl3pPr>
            <a:lvl4pPr>
              <a:defRPr sz="1950" b="0">
                <a:solidFill>
                  <a:srgbClr val="587267"/>
                </a:solidFill>
              </a:defRPr>
            </a:lvl4pPr>
            <a:lvl5pPr>
              <a:defRPr sz="1950" b="0">
                <a:solidFill>
                  <a:srgbClr val="587267"/>
                </a:solidFill>
              </a:defRPr>
            </a:lvl5pPr>
            <a:lvl6pPr>
              <a:defRPr sz="1950" b="0">
                <a:solidFill>
                  <a:srgbClr val="587267"/>
                </a:solidFill>
              </a:defRPr>
            </a:lvl6pPr>
            <a:lvl7pPr>
              <a:defRPr sz="1950" b="0">
                <a:solidFill>
                  <a:srgbClr val="587267"/>
                </a:solidFill>
              </a:defRPr>
            </a:lvl7pPr>
            <a:lvl8pPr>
              <a:defRPr sz="1950" b="0">
                <a:solidFill>
                  <a:srgbClr val="587267"/>
                </a:solidFill>
              </a:defRPr>
            </a:lvl8pPr>
            <a:lvl9pPr>
              <a:defRPr sz="19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87267"/>
                </a:solidFill>
              </a:defRPr>
            </a:pPr>
            <a:r>
              <a:rPr sz="1950" b="0">
                <a:solidFill>
                  <a:srgbClr val="587267"/>
                </a:solidFill>
              </a:rPr>
              <a:t>Модели, прошивки, DNS, TLS, LDAP и Windows-клиенты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19EF4-FBC2-44A9-8560-AAE49A2A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F35"/>
                </a:solidFill>
              </a:defRPr>
            </a:defPPr>
            <a:lvl1pPr>
              <a:defRPr sz="3150" b="1">
                <a:solidFill>
                  <a:srgbClr val="123F35"/>
                </a:solidFill>
              </a:defRPr>
            </a:lvl1pPr>
            <a:lvl2pPr>
              <a:defRPr sz="3150" b="1">
                <a:solidFill>
                  <a:srgbClr val="123F35"/>
                </a:solidFill>
              </a:defRPr>
            </a:lvl2pPr>
            <a:lvl3pPr>
              <a:defRPr sz="3150" b="1">
                <a:solidFill>
                  <a:srgbClr val="123F35"/>
                </a:solidFill>
              </a:defRPr>
            </a:lvl3pPr>
            <a:lvl4pPr>
              <a:defRPr sz="3150" b="1">
                <a:solidFill>
                  <a:srgbClr val="123F35"/>
                </a:solidFill>
              </a:defRPr>
            </a:lvl4pPr>
            <a:lvl5pPr>
              <a:defRPr sz="3150" b="1">
                <a:solidFill>
                  <a:srgbClr val="123F35"/>
                </a:solidFill>
              </a:defRPr>
            </a:lvl5pPr>
            <a:lvl6pPr>
              <a:defRPr sz="3150" b="1">
                <a:solidFill>
                  <a:srgbClr val="123F35"/>
                </a:solidFill>
              </a:defRPr>
            </a:lvl6pPr>
            <a:lvl7pPr>
              <a:defRPr sz="3150" b="1">
                <a:solidFill>
                  <a:srgbClr val="123F35"/>
                </a:solidFill>
              </a:defRPr>
            </a:lvl7pPr>
            <a:lvl8pPr>
              <a:defRPr sz="3150" b="1">
                <a:solidFill>
                  <a:srgbClr val="123F35"/>
                </a:solidFill>
              </a:defRPr>
            </a:lvl8pPr>
            <a:lvl9pPr>
              <a:defRPr sz="31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F35"/>
                </a:solidFill>
              </a:defRPr>
            </a:pPr>
            <a:r>
              <a:rPr sz="3150" b="1">
                <a:solidFill>
                  <a:srgbClr val="123F3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8572E-1490-43C7-A080-22C20BF5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Рабочие сценарии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5549A-7BC2-458A-AA4A-2F49D887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87267"/>
                </a:solidFill>
              </a:defRPr>
            </a:defPPr>
            <a:lvl1pPr>
              <a:defRPr sz="1950" b="0">
                <a:solidFill>
                  <a:srgbClr val="587267"/>
                </a:solidFill>
              </a:defRPr>
            </a:lvl1pPr>
            <a:lvl2pPr>
              <a:defRPr sz="1950" b="0">
                <a:solidFill>
                  <a:srgbClr val="587267"/>
                </a:solidFill>
              </a:defRPr>
            </a:lvl2pPr>
            <a:lvl3pPr>
              <a:defRPr sz="1950" b="0">
                <a:solidFill>
                  <a:srgbClr val="587267"/>
                </a:solidFill>
              </a:defRPr>
            </a:lvl3pPr>
            <a:lvl4pPr>
              <a:defRPr sz="1950" b="0">
                <a:solidFill>
                  <a:srgbClr val="587267"/>
                </a:solidFill>
              </a:defRPr>
            </a:lvl4pPr>
            <a:lvl5pPr>
              <a:defRPr sz="1950" b="0">
                <a:solidFill>
                  <a:srgbClr val="587267"/>
                </a:solidFill>
              </a:defRPr>
            </a:lvl5pPr>
            <a:lvl6pPr>
              <a:defRPr sz="1950" b="0">
                <a:solidFill>
                  <a:srgbClr val="587267"/>
                </a:solidFill>
              </a:defRPr>
            </a:lvl6pPr>
            <a:lvl7pPr>
              <a:defRPr sz="1950" b="0">
                <a:solidFill>
                  <a:srgbClr val="587267"/>
                </a:solidFill>
              </a:defRPr>
            </a:lvl7pPr>
            <a:lvl8pPr>
              <a:defRPr sz="1950" b="0">
                <a:solidFill>
                  <a:srgbClr val="587267"/>
                </a:solidFill>
              </a:defRPr>
            </a:lvl8pPr>
            <a:lvl9pPr>
              <a:defRPr sz="19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87267"/>
                </a:solidFill>
              </a:defRPr>
            </a:pPr>
            <a:r>
              <a:rPr sz="1950" b="0">
                <a:solidFill>
                  <a:srgbClr val="587267"/>
                </a:solidFill>
              </a:rPr>
              <a:t>PPD, Follow Me, личные сканы и доставка по почте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1AA02-BDAD-4934-B1C1-95CF4C2C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F35"/>
                </a:solidFill>
              </a:defRPr>
            </a:defPPr>
            <a:lvl1pPr>
              <a:defRPr sz="3150" b="1">
                <a:solidFill>
                  <a:srgbClr val="123F35"/>
                </a:solidFill>
              </a:defRPr>
            </a:lvl1pPr>
            <a:lvl2pPr>
              <a:defRPr sz="3150" b="1">
                <a:solidFill>
                  <a:srgbClr val="123F35"/>
                </a:solidFill>
              </a:defRPr>
            </a:lvl2pPr>
            <a:lvl3pPr>
              <a:defRPr sz="3150" b="1">
                <a:solidFill>
                  <a:srgbClr val="123F35"/>
                </a:solidFill>
              </a:defRPr>
            </a:lvl3pPr>
            <a:lvl4pPr>
              <a:defRPr sz="3150" b="1">
                <a:solidFill>
                  <a:srgbClr val="123F35"/>
                </a:solidFill>
              </a:defRPr>
            </a:lvl4pPr>
            <a:lvl5pPr>
              <a:defRPr sz="3150" b="1">
                <a:solidFill>
                  <a:srgbClr val="123F35"/>
                </a:solidFill>
              </a:defRPr>
            </a:lvl5pPr>
            <a:lvl6pPr>
              <a:defRPr sz="3150" b="1">
                <a:solidFill>
                  <a:srgbClr val="123F35"/>
                </a:solidFill>
              </a:defRPr>
            </a:lvl6pPr>
            <a:lvl7pPr>
              <a:defRPr sz="3150" b="1">
                <a:solidFill>
                  <a:srgbClr val="123F35"/>
                </a:solidFill>
              </a:defRPr>
            </a:lvl7pPr>
            <a:lvl8pPr>
              <a:defRPr sz="3150" b="1">
                <a:solidFill>
                  <a:srgbClr val="123F35"/>
                </a:solidFill>
              </a:defRPr>
            </a:lvl8pPr>
            <a:lvl9pPr>
              <a:defRPr sz="31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F35"/>
                </a:solidFill>
              </a:defRPr>
            </a:pPr>
            <a:r>
              <a:rPr sz="3150" b="1">
                <a:solidFill>
                  <a:srgbClr val="123F3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31745-1534-4718-B752-4E6777C2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Проверки отказов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E487F-4044-4F9C-ABA7-6A698B56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87267"/>
                </a:solidFill>
              </a:defRPr>
            </a:defPPr>
            <a:lvl1pPr>
              <a:defRPr sz="1950" b="0">
                <a:solidFill>
                  <a:srgbClr val="587267"/>
                </a:solidFill>
              </a:defRPr>
            </a:lvl1pPr>
            <a:lvl2pPr>
              <a:defRPr sz="1950" b="0">
                <a:solidFill>
                  <a:srgbClr val="587267"/>
                </a:solidFill>
              </a:defRPr>
            </a:lvl2pPr>
            <a:lvl3pPr>
              <a:defRPr sz="1950" b="0">
                <a:solidFill>
                  <a:srgbClr val="587267"/>
                </a:solidFill>
              </a:defRPr>
            </a:lvl3pPr>
            <a:lvl4pPr>
              <a:defRPr sz="1950" b="0">
                <a:solidFill>
                  <a:srgbClr val="587267"/>
                </a:solidFill>
              </a:defRPr>
            </a:lvl4pPr>
            <a:lvl5pPr>
              <a:defRPr sz="1950" b="0">
                <a:solidFill>
                  <a:srgbClr val="587267"/>
                </a:solidFill>
              </a:defRPr>
            </a:lvl5pPr>
            <a:lvl6pPr>
              <a:defRPr sz="1950" b="0">
                <a:solidFill>
                  <a:srgbClr val="587267"/>
                </a:solidFill>
              </a:defRPr>
            </a:lvl6pPr>
            <a:lvl7pPr>
              <a:defRPr sz="1950" b="0">
                <a:solidFill>
                  <a:srgbClr val="587267"/>
                </a:solidFill>
              </a:defRPr>
            </a:lvl7pPr>
            <a:lvl8pPr>
              <a:defRPr sz="1950" b="0">
                <a:solidFill>
                  <a:srgbClr val="587267"/>
                </a:solidFill>
              </a:defRPr>
            </a:lvl8pPr>
            <a:lvl9pPr>
              <a:defRPr sz="19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87267"/>
                </a:solidFill>
              </a:defRPr>
            </a:pPr>
            <a:r>
              <a:rPr sz="1950" b="0">
                <a:solidFill>
                  <a:srgbClr val="587267"/>
                </a:solidFill>
              </a:rPr>
              <a:t>Антивирус, отзыв пароля, недоступное устройство и SMTP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1C580-CF31-457B-970B-B7362BFD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F35"/>
                </a:solidFill>
              </a:defRPr>
            </a:defPPr>
            <a:lvl1pPr>
              <a:defRPr sz="3150" b="1">
                <a:solidFill>
                  <a:srgbClr val="123F35"/>
                </a:solidFill>
              </a:defRPr>
            </a:lvl1pPr>
            <a:lvl2pPr>
              <a:defRPr sz="3150" b="1">
                <a:solidFill>
                  <a:srgbClr val="123F35"/>
                </a:solidFill>
              </a:defRPr>
            </a:lvl2pPr>
            <a:lvl3pPr>
              <a:defRPr sz="3150" b="1">
                <a:solidFill>
                  <a:srgbClr val="123F35"/>
                </a:solidFill>
              </a:defRPr>
            </a:lvl3pPr>
            <a:lvl4pPr>
              <a:defRPr sz="3150" b="1">
                <a:solidFill>
                  <a:srgbClr val="123F35"/>
                </a:solidFill>
              </a:defRPr>
            </a:lvl4pPr>
            <a:lvl5pPr>
              <a:defRPr sz="3150" b="1">
                <a:solidFill>
                  <a:srgbClr val="123F35"/>
                </a:solidFill>
              </a:defRPr>
            </a:lvl5pPr>
            <a:lvl6pPr>
              <a:defRPr sz="3150" b="1">
                <a:solidFill>
                  <a:srgbClr val="123F35"/>
                </a:solidFill>
              </a:defRPr>
            </a:lvl6pPr>
            <a:lvl7pPr>
              <a:defRPr sz="3150" b="1">
                <a:solidFill>
                  <a:srgbClr val="123F35"/>
                </a:solidFill>
              </a:defRPr>
            </a:lvl7pPr>
            <a:lvl8pPr>
              <a:defRPr sz="3150" b="1">
                <a:solidFill>
                  <a:srgbClr val="123F35"/>
                </a:solidFill>
              </a:defRPr>
            </a:lvl8pPr>
            <a:lvl9pPr>
              <a:defRPr sz="31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F35"/>
                </a:solidFill>
              </a:defRPr>
            </a:pPr>
            <a:r>
              <a:rPr sz="3150" b="1">
                <a:solidFill>
                  <a:srgbClr val="123F3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5CCC3-FBF9-462A-B227-DAFA0B2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Эксплуатация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A9856-184B-4E2D-9C8E-27C5B00D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87267"/>
                </a:solidFill>
              </a:defRPr>
            </a:defPPr>
            <a:lvl1pPr>
              <a:defRPr sz="1950" b="0">
                <a:solidFill>
                  <a:srgbClr val="587267"/>
                </a:solidFill>
              </a:defRPr>
            </a:lvl1pPr>
            <a:lvl2pPr>
              <a:defRPr sz="1950" b="0">
                <a:solidFill>
                  <a:srgbClr val="587267"/>
                </a:solidFill>
              </a:defRPr>
            </a:lvl2pPr>
            <a:lvl3pPr>
              <a:defRPr sz="1950" b="0">
                <a:solidFill>
                  <a:srgbClr val="587267"/>
                </a:solidFill>
              </a:defRPr>
            </a:lvl3pPr>
            <a:lvl4pPr>
              <a:defRPr sz="1950" b="0">
                <a:solidFill>
                  <a:srgbClr val="587267"/>
                </a:solidFill>
              </a:defRPr>
            </a:lvl4pPr>
            <a:lvl5pPr>
              <a:defRPr sz="1950" b="0">
                <a:solidFill>
                  <a:srgbClr val="587267"/>
                </a:solidFill>
              </a:defRPr>
            </a:lvl5pPr>
            <a:lvl6pPr>
              <a:defRPr sz="1950" b="0">
                <a:solidFill>
                  <a:srgbClr val="587267"/>
                </a:solidFill>
              </a:defRPr>
            </a:lvl6pPr>
            <a:lvl7pPr>
              <a:defRPr sz="1950" b="0">
                <a:solidFill>
                  <a:srgbClr val="587267"/>
                </a:solidFill>
              </a:defRPr>
            </a:lvl7pPr>
            <a:lvl8pPr>
              <a:defRPr sz="1950" b="0">
                <a:solidFill>
                  <a:srgbClr val="587267"/>
                </a:solidFill>
              </a:defRPr>
            </a:lvl8pPr>
            <a:lvl9pPr>
              <a:defRPr sz="19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87267"/>
                </a:solidFill>
              </a:defRPr>
            </a:pPr>
            <a:r>
              <a:rPr sz="1950" b="0">
                <a:solidFill>
                  <a:srgbClr val="587267"/>
                </a:solidFill>
              </a:rPr>
              <a:t>Мониторинг, предупреждения, резервирование и восстановление</a:t>
            </a:r>
          </a:p>
        </p:txBody>
      </p:sp>
    </p:spTree>
    <p:extLst>
      <p:ext uri="{BB962C8B-B14F-4D97-AF65-F5344CB8AC3E}">
        <p14:creationId xmlns:p14="http://schemas.microsoft.com/office/powerpoint/2010/main" val="19846512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2259F-E59B-4FC0-9173-3F23413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Совместимость и условия внедрения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B2276-96D1-4BCA-877A-79F5109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53EC6-066E-4FDF-A11C-B226F2E3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23F35"/>
                </a:solidFill>
              </a:defRPr>
            </a:defPPr>
            <a:lvl1pPr>
              <a:defRPr sz="2700" b="1">
                <a:solidFill>
                  <a:srgbClr val="123F35"/>
                </a:solidFill>
              </a:defRPr>
            </a:lvl1pPr>
            <a:lvl2pPr>
              <a:defRPr sz="2700" b="1">
                <a:solidFill>
                  <a:srgbClr val="123F35"/>
                </a:solidFill>
              </a:defRPr>
            </a:lvl2pPr>
            <a:lvl3pPr>
              <a:defRPr sz="2700" b="1">
                <a:solidFill>
                  <a:srgbClr val="123F35"/>
                </a:solidFill>
              </a:defRPr>
            </a:lvl3pPr>
            <a:lvl4pPr>
              <a:defRPr sz="2700" b="1">
                <a:solidFill>
                  <a:srgbClr val="123F35"/>
                </a:solidFill>
              </a:defRPr>
            </a:lvl4pPr>
            <a:lvl5pPr>
              <a:defRPr sz="2700" b="1">
                <a:solidFill>
                  <a:srgbClr val="123F35"/>
                </a:solidFill>
              </a:defRPr>
            </a:lvl5pPr>
            <a:lvl6pPr>
              <a:defRPr sz="2700" b="1">
                <a:solidFill>
                  <a:srgbClr val="123F35"/>
                </a:solidFill>
              </a:defRPr>
            </a:lvl6pPr>
            <a:lvl7pPr>
              <a:defRPr sz="2700" b="1">
                <a:solidFill>
                  <a:srgbClr val="123F35"/>
                </a:solidFill>
              </a:defRPr>
            </a:lvl7pPr>
            <a:lvl8pPr>
              <a:defRPr sz="2700" b="1">
                <a:solidFill>
                  <a:srgbClr val="123F35"/>
                </a:solidFill>
              </a:defRPr>
            </a:lvl8pPr>
            <a:lvl9pPr>
              <a:defRPr sz="27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3F35"/>
                </a:solidFill>
              </a:defRPr>
            </a:pPr>
            <a:r>
              <a:rPr sz="2700" b="1">
                <a:solidFill>
                  <a:srgbClr val="123F35"/>
                </a:solidFill>
              </a:rPr>
              <a:t>Нужен пилот на реальном оборудовании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48614-23FD-4D44-9625-DC277EF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D36"/>
                </a:solidFill>
              </a:defRPr>
            </a:defPPr>
            <a:lvl1pPr>
              <a:defRPr sz="2250" b="0">
                <a:solidFill>
                  <a:srgbClr val="203D36"/>
                </a:solidFill>
              </a:defRPr>
            </a:lvl1pPr>
            <a:lvl2pPr>
              <a:defRPr sz="2250" b="0">
                <a:solidFill>
                  <a:srgbClr val="203D36"/>
                </a:solidFill>
              </a:defRPr>
            </a:lvl2pPr>
            <a:lvl3pPr>
              <a:defRPr sz="2250" b="0">
                <a:solidFill>
                  <a:srgbClr val="203D36"/>
                </a:solidFill>
              </a:defRPr>
            </a:lvl3pPr>
            <a:lvl4pPr>
              <a:defRPr sz="2250" b="0">
                <a:solidFill>
                  <a:srgbClr val="203D36"/>
                </a:solidFill>
              </a:defRPr>
            </a:lvl4pPr>
            <a:lvl5pPr>
              <a:defRPr sz="2250" b="0">
                <a:solidFill>
                  <a:srgbClr val="203D36"/>
                </a:solidFill>
              </a:defRPr>
            </a:lvl5pPr>
            <a:lvl6pPr>
              <a:defRPr sz="2250" b="0">
                <a:solidFill>
                  <a:srgbClr val="203D36"/>
                </a:solidFill>
              </a:defRPr>
            </a:lvl6pPr>
            <a:lvl7pPr>
              <a:defRPr sz="2250" b="0">
                <a:solidFill>
                  <a:srgbClr val="203D36"/>
                </a:solidFill>
              </a:defRPr>
            </a:lvl7pPr>
            <a:lvl8pPr>
              <a:defRPr sz="2250" b="0">
                <a:solidFill>
                  <a:srgbClr val="203D36"/>
                </a:solidFill>
              </a:defRPr>
            </a:lvl8pPr>
            <a:lvl9pPr>
              <a:defRPr sz="2250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D36"/>
                </a:solidFill>
              </a:defRPr>
            </a:pPr>
            <a:r>
              <a:rPr sz="2250" b="0">
                <a:solidFill>
                  <a:srgbClr val="203D36"/>
                </a:solidFill>
              </a:rPr>
              <a:t>Windows / AD · SNMPv3 · модели и прошивки МФУ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C8E2F-49EF-47B8-9959-78B6265B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D36"/>
                </a:solidFill>
              </a:defRPr>
            </a:defPPr>
            <a:lvl1pPr>
              <a:defRPr sz="2325" b="1">
                <a:solidFill>
                  <a:srgbClr val="203D36"/>
                </a:solidFill>
              </a:defRPr>
            </a:lvl1pPr>
            <a:lvl2pPr>
              <a:defRPr sz="2325" b="1">
                <a:solidFill>
                  <a:srgbClr val="203D36"/>
                </a:solidFill>
              </a:defRPr>
            </a:lvl2pPr>
            <a:lvl3pPr>
              <a:defRPr sz="2325" b="1">
                <a:solidFill>
                  <a:srgbClr val="203D36"/>
                </a:solidFill>
              </a:defRPr>
            </a:lvl3pPr>
            <a:lvl4pPr>
              <a:defRPr sz="2325" b="1">
                <a:solidFill>
                  <a:srgbClr val="203D36"/>
                </a:solidFill>
              </a:defRPr>
            </a:lvl4pPr>
            <a:lvl5pPr>
              <a:defRPr sz="2325" b="1">
                <a:solidFill>
                  <a:srgbClr val="203D36"/>
                </a:solidFill>
              </a:defRPr>
            </a:lvl5pPr>
            <a:lvl6pPr>
              <a:defRPr sz="2325" b="1">
                <a:solidFill>
                  <a:srgbClr val="203D36"/>
                </a:solidFill>
              </a:defRPr>
            </a:lvl6pPr>
            <a:lvl7pPr>
              <a:defRPr sz="2325" b="1">
                <a:solidFill>
                  <a:srgbClr val="203D36"/>
                </a:solidFill>
              </a:defRPr>
            </a:lvl7pPr>
            <a:lvl8pPr>
              <a:defRPr sz="2325" b="1">
                <a:solidFill>
                  <a:srgbClr val="203D36"/>
                </a:solidFill>
              </a:defRPr>
            </a:lvl8pPr>
            <a:lvl9pPr>
              <a:defRPr sz="2325" b="1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D36"/>
                </a:solidFill>
              </a:defRPr>
            </a:pPr>
            <a:r>
              <a:rPr sz="2325" b="1">
                <a:solidFill>
                  <a:srgbClr val="203D36"/>
                </a:solidFill>
              </a:rPr>
              <a:t>В текущем выпуске отсутствуют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BC8DE-7A69-4BBD-BC4E-CB5A8ECE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D36"/>
                </a:solidFill>
              </a:defRPr>
            </a:defPPr>
            <a:lvl1pPr>
              <a:defRPr sz="2175" b="0">
                <a:solidFill>
                  <a:srgbClr val="203D36"/>
                </a:solidFill>
              </a:defRPr>
            </a:lvl1pPr>
            <a:lvl2pPr>
              <a:defRPr sz="2175" b="0">
                <a:solidFill>
                  <a:srgbClr val="203D36"/>
                </a:solidFill>
              </a:defRPr>
            </a:lvl2pPr>
            <a:lvl3pPr>
              <a:defRPr sz="2175" b="0">
                <a:solidFill>
                  <a:srgbClr val="203D36"/>
                </a:solidFill>
              </a:defRPr>
            </a:lvl3pPr>
            <a:lvl4pPr>
              <a:defRPr sz="2175" b="0">
                <a:solidFill>
                  <a:srgbClr val="203D36"/>
                </a:solidFill>
              </a:defRPr>
            </a:lvl4pPr>
            <a:lvl5pPr>
              <a:defRPr sz="2175" b="0">
                <a:solidFill>
                  <a:srgbClr val="203D36"/>
                </a:solidFill>
              </a:defRPr>
            </a:lvl5pPr>
            <a:lvl6pPr>
              <a:defRPr sz="2175" b="0">
                <a:solidFill>
                  <a:srgbClr val="203D36"/>
                </a:solidFill>
              </a:defRPr>
            </a:lvl6pPr>
            <a:lvl7pPr>
              <a:defRPr sz="2175" b="0">
                <a:solidFill>
                  <a:srgbClr val="203D36"/>
                </a:solidFill>
              </a:defRPr>
            </a:lvl7pPr>
            <a:lvl8pPr>
              <a:defRPr sz="2175" b="0">
                <a:solidFill>
                  <a:srgbClr val="203D36"/>
                </a:solidFill>
              </a:defRPr>
            </a:lvl8pPr>
            <a:lvl9pPr>
              <a:defRPr sz="2175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SMB и USB · NTLM · WSD и поиск сканеров</a:t>
            </a:r>
          </a:p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Приложение панели МФУ · WebDAV MOVE / LOCK</a:t>
            </a:r>
          </a:p>
          <a:p xmlns:a="http://schemas.openxmlformats.org/drawingml/2006/main">
            <a:pPr>
              <a:defRPr sz="2175" b="0">
                <a:solidFill>
                  <a:srgbClr val="203D36"/>
                </a:solidFill>
              </a:defRPr>
            </a:pPr>
            <a:r>
              <a:rPr sz="2175" b="0">
                <a:solidFill>
                  <a:srgbClr val="203D36"/>
                </a:solidFill>
              </a:rPr>
              <a:t>Implicit FTPS и SFTP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9D30C-49B4-4261-BA4F-65417AE6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7267"/>
                </a:solidFill>
              </a:defRPr>
            </a:defPPr>
            <a:lvl1pPr>
              <a:defRPr sz="1725" b="0">
                <a:solidFill>
                  <a:srgbClr val="587267"/>
                </a:solidFill>
              </a:defRPr>
            </a:lvl1pPr>
            <a:lvl2pPr>
              <a:defRPr sz="1725" b="0">
                <a:solidFill>
                  <a:srgbClr val="587267"/>
                </a:solidFill>
              </a:defRPr>
            </a:lvl2pPr>
            <a:lvl3pPr>
              <a:defRPr sz="1725" b="0">
                <a:solidFill>
                  <a:srgbClr val="587267"/>
                </a:solidFill>
              </a:defRPr>
            </a:lvl3pPr>
            <a:lvl4pPr>
              <a:defRPr sz="1725" b="0">
                <a:solidFill>
                  <a:srgbClr val="587267"/>
                </a:solidFill>
              </a:defRPr>
            </a:lvl4pPr>
            <a:lvl5pPr>
              <a:defRPr sz="1725" b="0">
                <a:solidFill>
                  <a:srgbClr val="587267"/>
                </a:solidFill>
              </a:defRPr>
            </a:lvl5pPr>
            <a:lvl6pPr>
              <a:defRPr sz="1725" b="0">
                <a:solidFill>
                  <a:srgbClr val="587267"/>
                </a:solidFill>
              </a:defRPr>
            </a:lvl6pPr>
            <a:lvl7pPr>
              <a:defRPr sz="1725" b="0">
                <a:solidFill>
                  <a:srgbClr val="587267"/>
                </a:solidFill>
              </a:defRPr>
            </a:lvl7pPr>
            <a:lvl8pPr>
              <a:defRPr sz="1725" b="0">
                <a:solidFill>
                  <a:srgbClr val="587267"/>
                </a:solidFill>
              </a:defRPr>
            </a:lvl8pPr>
            <a:lvl9pPr>
              <a:defRPr sz="1725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87267"/>
                </a:solidFill>
              </a:defRPr>
            </a:pPr>
            <a:r>
              <a:rPr sz="1725" b="0">
                <a:solidFill>
                  <a:srgbClr val="587267"/>
                </a:solidFill>
              </a:rPr>
              <a:t>Статус «Передано» не подтверждает физическую печать. SLA и нагрузочная ёмкость не заявлены.</a:t>
            </a:r>
          </a:p>
        </p:txBody>
      </p:sp>
    </p:spTree>
    <p:extLst>
      <p:ext uri="{BB962C8B-B14F-4D97-AF65-F5344CB8AC3E}">
        <p14:creationId xmlns:p14="http://schemas.microsoft.com/office/powerpoint/2010/main" val="17382845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3768B-4797-4338-B6C0-883FDFF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23F35"/>
                </a:solidFill>
              </a:defRPr>
            </a:defPPr>
            <a:lvl1pPr>
              <a:defRPr sz="3600" b="1">
                <a:solidFill>
                  <a:srgbClr val="123F35"/>
                </a:solidFill>
              </a:defRPr>
            </a:lvl1pPr>
            <a:lvl2pPr>
              <a:defRPr sz="3600" b="1">
                <a:solidFill>
                  <a:srgbClr val="123F35"/>
                </a:solidFill>
              </a:defRPr>
            </a:lvl2pPr>
            <a:lvl3pPr>
              <a:defRPr sz="3600" b="1">
                <a:solidFill>
                  <a:srgbClr val="123F35"/>
                </a:solidFill>
              </a:defRPr>
            </a:lvl3pPr>
            <a:lvl4pPr>
              <a:defRPr sz="3600" b="1">
                <a:solidFill>
                  <a:srgbClr val="123F35"/>
                </a:solidFill>
              </a:defRPr>
            </a:lvl4pPr>
            <a:lvl5pPr>
              <a:defRPr sz="3600" b="1">
                <a:solidFill>
                  <a:srgbClr val="123F35"/>
                </a:solidFill>
              </a:defRPr>
            </a:lvl5pPr>
            <a:lvl6pPr>
              <a:defRPr sz="3600" b="1">
                <a:solidFill>
                  <a:srgbClr val="123F35"/>
                </a:solidFill>
              </a:defRPr>
            </a:lvl6pPr>
            <a:lvl7pPr>
              <a:defRPr sz="3600" b="1">
                <a:solidFill>
                  <a:srgbClr val="123F35"/>
                </a:solidFill>
              </a:defRPr>
            </a:lvl7pPr>
            <a:lvl8pPr>
              <a:defRPr sz="3600" b="1">
                <a:solidFill>
                  <a:srgbClr val="123F35"/>
                </a:solidFill>
              </a:defRPr>
            </a:lvl8pPr>
            <a:lvl9pPr>
              <a:defRPr sz="360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3F35"/>
                </a:solidFill>
              </a:defRPr>
            </a:pPr>
            <a:r>
              <a:rPr sz="3600" b="1">
                <a:solidFill>
                  <a:srgbClr val="123F35"/>
                </a:solidFill>
              </a:rPr>
              <a:t>GoPrint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82F76-14E4-49FE-94CE-6942A34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8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87267"/>
                </a:solidFill>
              </a:defRPr>
            </a:defPPr>
            <a:lvl1pPr>
              <a:defRPr sz="1350" b="0">
                <a:solidFill>
                  <a:srgbClr val="587267"/>
                </a:solidFill>
              </a:defRPr>
            </a:lvl1pPr>
            <a:lvl2pPr>
              <a:defRPr sz="1350" b="0">
                <a:solidFill>
                  <a:srgbClr val="587267"/>
                </a:solidFill>
              </a:defRPr>
            </a:lvl2pPr>
            <a:lvl3pPr>
              <a:defRPr sz="1350" b="0">
                <a:solidFill>
                  <a:srgbClr val="587267"/>
                </a:solidFill>
              </a:defRPr>
            </a:lvl3pPr>
            <a:lvl4pPr>
              <a:defRPr sz="1350" b="0">
                <a:solidFill>
                  <a:srgbClr val="587267"/>
                </a:solidFill>
              </a:defRPr>
            </a:lvl4pPr>
            <a:lvl5pPr>
              <a:defRPr sz="1350" b="0">
                <a:solidFill>
                  <a:srgbClr val="587267"/>
                </a:solidFill>
              </a:defRPr>
            </a:lvl5pPr>
            <a:lvl6pPr>
              <a:defRPr sz="1350" b="0">
                <a:solidFill>
                  <a:srgbClr val="587267"/>
                </a:solidFill>
              </a:defRPr>
            </a:lvl6pPr>
            <a:lvl7pPr>
              <a:defRPr sz="1350" b="0">
                <a:solidFill>
                  <a:srgbClr val="587267"/>
                </a:solidFill>
              </a:defRPr>
            </a:lvl7pPr>
            <a:lvl8pPr>
              <a:defRPr sz="1350" b="0">
                <a:solidFill>
                  <a:srgbClr val="587267"/>
                </a:solidFill>
              </a:defRPr>
            </a:lvl8pPr>
            <a:lvl9pPr>
              <a:defRPr sz="13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7267"/>
                </a:solidFill>
              </a:defRPr>
            </a:pPr>
            <a:r>
              <a:rPr sz="1350" b="0">
                <a:solidFill>
                  <a:srgbClr val="587267"/>
                </a:solidFill>
              </a:rPr>
              <a:t>GoPrint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9B129-CF69-4A04-8082-1603E62D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F35"/>
                </a:solidFill>
              </a:defRPr>
            </a:defPPr>
            <a:lvl1pPr>
              <a:defRPr sz="3150" b="1">
                <a:solidFill>
                  <a:srgbClr val="123F35"/>
                </a:solidFill>
              </a:defRPr>
            </a:lvl1pPr>
            <a:lvl2pPr>
              <a:defRPr sz="3150" b="1">
                <a:solidFill>
                  <a:srgbClr val="123F35"/>
                </a:solidFill>
              </a:defRPr>
            </a:lvl2pPr>
            <a:lvl3pPr>
              <a:defRPr sz="3150" b="1">
                <a:solidFill>
                  <a:srgbClr val="123F35"/>
                </a:solidFill>
              </a:defRPr>
            </a:lvl3pPr>
            <a:lvl4pPr>
              <a:defRPr sz="3150" b="1">
                <a:solidFill>
                  <a:srgbClr val="123F35"/>
                </a:solidFill>
              </a:defRPr>
            </a:lvl4pPr>
            <a:lvl5pPr>
              <a:defRPr sz="3150" b="1">
                <a:solidFill>
                  <a:srgbClr val="123F35"/>
                </a:solidFill>
              </a:defRPr>
            </a:lvl5pPr>
            <a:lvl6pPr>
              <a:defRPr sz="3150" b="1">
                <a:solidFill>
                  <a:srgbClr val="123F35"/>
                </a:solidFill>
              </a:defRPr>
            </a:lvl6pPr>
            <a:lvl7pPr>
              <a:defRPr sz="3150" b="1">
                <a:solidFill>
                  <a:srgbClr val="123F35"/>
                </a:solidFill>
              </a:defRPr>
            </a:lvl7pPr>
            <a:lvl8pPr>
              <a:defRPr sz="3150" b="1">
                <a:solidFill>
                  <a:srgbClr val="123F35"/>
                </a:solidFill>
              </a:defRPr>
            </a:lvl8pPr>
            <a:lvl9pPr>
              <a:defRPr sz="31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F35"/>
                </a:solidFill>
              </a:defRPr>
            </a:pPr>
            <a:r>
              <a:rPr sz="3150" b="1">
                <a:solidFill>
                  <a:srgbClr val="123F35"/>
                </a:solidFill>
              </a:rPr>
              <a:t>Открытый исходный код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E53A4-5575-457A-AAB9-91866B62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03D36"/>
                </a:solidFill>
              </a:defRPr>
            </a:defPPr>
            <a:lvl1pPr>
              <a:defRPr sz="2700" b="0">
                <a:solidFill>
                  <a:srgbClr val="203D36"/>
                </a:solidFill>
              </a:defRPr>
            </a:lvl1pPr>
            <a:lvl2pPr>
              <a:defRPr sz="2700" b="0">
                <a:solidFill>
                  <a:srgbClr val="203D36"/>
                </a:solidFill>
              </a:defRPr>
            </a:lvl2pPr>
            <a:lvl3pPr>
              <a:defRPr sz="2700" b="0">
                <a:solidFill>
                  <a:srgbClr val="203D36"/>
                </a:solidFill>
              </a:defRPr>
            </a:lvl3pPr>
            <a:lvl4pPr>
              <a:defRPr sz="2700" b="0">
                <a:solidFill>
                  <a:srgbClr val="203D36"/>
                </a:solidFill>
              </a:defRPr>
            </a:lvl4pPr>
            <a:lvl5pPr>
              <a:defRPr sz="2700" b="0">
                <a:solidFill>
                  <a:srgbClr val="203D36"/>
                </a:solidFill>
              </a:defRPr>
            </a:lvl5pPr>
            <a:lvl6pPr>
              <a:defRPr sz="2700" b="0">
                <a:solidFill>
                  <a:srgbClr val="203D36"/>
                </a:solidFill>
              </a:defRPr>
            </a:lvl6pPr>
            <a:lvl7pPr>
              <a:defRPr sz="2700" b="0">
                <a:solidFill>
                  <a:srgbClr val="203D36"/>
                </a:solidFill>
              </a:defRPr>
            </a:lvl7pPr>
            <a:lvl8pPr>
              <a:defRPr sz="2700" b="0">
                <a:solidFill>
                  <a:srgbClr val="203D36"/>
                </a:solidFill>
              </a:defRPr>
            </a:lvl8pPr>
            <a:lvl9pPr>
              <a:defRPr sz="2700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3D36"/>
                </a:solidFill>
              </a:defRPr>
            </a:pPr>
            <a:r>
              <a:rPr sz="2700" b="0">
                <a:solidFill>
                  <a:srgbClr val="203D36"/>
                </a:solidFill>
              </a:rPr>
              <a:t>Apache License 2.0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54661-3152-4F99-A121-54F0993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D36"/>
                </a:solidFill>
              </a:defRPr>
            </a:defPPr>
            <a:lvl1pPr>
              <a:defRPr sz="2400" b="0">
                <a:solidFill>
                  <a:srgbClr val="203D36"/>
                </a:solidFill>
              </a:defRPr>
            </a:lvl1pPr>
            <a:lvl2pPr>
              <a:defRPr sz="2400" b="0">
                <a:solidFill>
                  <a:srgbClr val="203D36"/>
                </a:solidFill>
              </a:defRPr>
            </a:lvl2pPr>
            <a:lvl3pPr>
              <a:defRPr sz="2400" b="0">
                <a:solidFill>
                  <a:srgbClr val="203D36"/>
                </a:solidFill>
              </a:defRPr>
            </a:lvl3pPr>
            <a:lvl4pPr>
              <a:defRPr sz="2400" b="0">
                <a:solidFill>
                  <a:srgbClr val="203D36"/>
                </a:solidFill>
              </a:defRPr>
            </a:lvl4pPr>
            <a:lvl5pPr>
              <a:defRPr sz="2400" b="0">
                <a:solidFill>
                  <a:srgbClr val="203D36"/>
                </a:solidFill>
              </a:defRPr>
            </a:lvl5pPr>
            <a:lvl6pPr>
              <a:defRPr sz="2400" b="0">
                <a:solidFill>
                  <a:srgbClr val="203D36"/>
                </a:solidFill>
              </a:defRPr>
            </a:lvl6pPr>
            <a:lvl7pPr>
              <a:defRPr sz="2400" b="0">
                <a:solidFill>
                  <a:srgbClr val="203D36"/>
                </a:solidFill>
              </a:defRPr>
            </a:lvl7pPr>
            <a:lvl8pPr>
              <a:defRPr sz="2400" b="0">
                <a:solidFill>
                  <a:srgbClr val="203D36"/>
                </a:solidFill>
              </a:defRPr>
            </a:lvl8pPr>
            <a:lvl9pPr>
              <a:defRPr sz="2400" b="0">
                <a:solidFill>
                  <a:srgbClr val="203D36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D36"/>
                </a:solidFill>
              </a:defRPr>
            </a:pPr>
            <a:r>
              <a:rPr sz="2400" b="0">
                <a:solidFill>
                  <a:srgbClr val="203D36"/>
                </a:solidFill>
              </a:rPr>
              <a:t>Автор: Кислов Роман Сергеевич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E7B40-2D56-4B9D-9C81-7676F6CA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35"/>
                </a:solidFill>
              </a:defRPr>
            </a:defPPr>
            <a:lvl1pPr>
              <a:defRPr sz="2550" b="1">
                <a:solidFill>
                  <a:srgbClr val="123F35"/>
                </a:solidFill>
              </a:defRPr>
            </a:lvl1pPr>
            <a:lvl2pPr>
              <a:defRPr sz="2550" b="1">
                <a:solidFill>
                  <a:srgbClr val="123F35"/>
                </a:solidFill>
              </a:defRPr>
            </a:lvl2pPr>
            <a:lvl3pPr>
              <a:defRPr sz="2550" b="1">
                <a:solidFill>
                  <a:srgbClr val="123F35"/>
                </a:solidFill>
              </a:defRPr>
            </a:lvl3pPr>
            <a:lvl4pPr>
              <a:defRPr sz="2550" b="1">
                <a:solidFill>
                  <a:srgbClr val="123F35"/>
                </a:solidFill>
              </a:defRPr>
            </a:lvl4pPr>
            <a:lvl5pPr>
              <a:defRPr sz="2550" b="1">
                <a:solidFill>
                  <a:srgbClr val="123F35"/>
                </a:solidFill>
              </a:defRPr>
            </a:lvl5pPr>
            <a:lvl6pPr>
              <a:defRPr sz="2550" b="1">
                <a:solidFill>
                  <a:srgbClr val="123F35"/>
                </a:solidFill>
              </a:defRPr>
            </a:lvl6pPr>
            <a:lvl7pPr>
              <a:defRPr sz="2550" b="1">
                <a:solidFill>
                  <a:srgbClr val="123F35"/>
                </a:solidFill>
              </a:defRPr>
            </a:lvl7pPr>
            <a:lvl8pPr>
              <a:defRPr sz="2550" b="1">
                <a:solidFill>
                  <a:srgbClr val="123F35"/>
                </a:solidFill>
              </a:defRPr>
            </a:lvl8pPr>
            <a:lvl9pPr>
              <a:defRPr sz="2550" b="1">
                <a:solidFill>
                  <a:srgbClr val="123F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35"/>
                </a:solidFill>
              </a:defRPr>
            </a:pPr>
            <a:r>
              <a:rPr sz="2550" b="1">
                <a:solidFill>
                  <a:srgbClr val="123F35"/>
                </a:solidFill>
              </a:rPr>
              <a:t>github.com/rkislov/goPrint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FAAD5-499E-403B-84FA-9EF2C63E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87267"/>
                </a:solidFill>
              </a:defRPr>
            </a:defPPr>
            <a:lvl1pPr>
              <a:defRPr sz="1950" b="0">
                <a:solidFill>
                  <a:srgbClr val="587267"/>
                </a:solidFill>
              </a:defRPr>
            </a:lvl1pPr>
            <a:lvl2pPr>
              <a:defRPr sz="1950" b="0">
                <a:solidFill>
                  <a:srgbClr val="587267"/>
                </a:solidFill>
              </a:defRPr>
            </a:lvl2pPr>
            <a:lvl3pPr>
              <a:defRPr sz="1950" b="0">
                <a:solidFill>
                  <a:srgbClr val="587267"/>
                </a:solidFill>
              </a:defRPr>
            </a:lvl3pPr>
            <a:lvl4pPr>
              <a:defRPr sz="1950" b="0">
                <a:solidFill>
                  <a:srgbClr val="587267"/>
                </a:solidFill>
              </a:defRPr>
            </a:lvl4pPr>
            <a:lvl5pPr>
              <a:defRPr sz="1950" b="0">
                <a:solidFill>
                  <a:srgbClr val="587267"/>
                </a:solidFill>
              </a:defRPr>
            </a:lvl5pPr>
            <a:lvl6pPr>
              <a:defRPr sz="1950" b="0">
                <a:solidFill>
                  <a:srgbClr val="587267"/>
                </a:solidFill>
              </a:defRPr>
            </a:lvl6pPr>
            <a:lvl7pPr>
              <a:defRPr sz="1950" b="0">
                <a:solidFill>
                  <a:srgbClr val="587267"/>
                </a:solidFill>
              </a:defRPr>
            </a:lvl7pPr>
            <a:lvl8pPr>
              <a:defRPr sz="1950" b="0">
                <a:solidFill>
                  <a:srgbClr val="587267"/>
                </a:solidFill>
              </a:defRPr>
            </a:lvl8pPr>
            <a:lvl9pPr>
              <a:defRPr sz="1950" b="0">
                <a:solidFill>
                  <a:srgbClr val="58726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87267"/>
                </a:solidFill>
              </a:defRPr>
            </a:pPr>
            <a:r>
              <a:rPr sz="1950" b="0">
                <a:solidFill>
                  <a:srgbClr val="587267"/>
                </a:solidFill>
              </a:rPr>
              <a:t>Сборки Linux · инструкции со скриншотами · контрольные суммы</a:t>
            </a:r>
          </a:p>
        </p:txBody>
      </p:sp>
    </p:spTree>
    <p:extLst>
      <p:ext uri="{BB962C8B-B14F-4D97-AF65-F5344CB8AC3E}">
        <p14:creationId xmlns:p14="http://schemas.microsoft.com/office/powerpoint/2010/main" val="1753316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2026-10-20T05:44:14.6840000Z</dcterms:created>
  <dcterms:modified xsi:type="dcterms:W3CDTF">2026-10-20T05:44:14.6840000Z</dcterms:modified>
</coreProperties>
</file>